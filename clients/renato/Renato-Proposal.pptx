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4" r:id="rId15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4.xml"/><Relationship Id="rId15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11137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515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FF8449"/>
                </a:solidFill>
                <a:latin typeface="Calibri"/>
              </a:rPr>
              <a:t>CLAUDE COWORK SETUP  ·  PROPOSAL  · 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FFFFF"/>
                </a:solidFill>
                <a:latin typeface="Georgia"/>
              </a:rPr>
              <a:t>Incotin — B2C Pilot.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640080" cy="45720"/>
          </a:xfrm>
          <a:prstGeom prst="rect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0" i="1">
                <a:solidFill>
                  <a:srgbClr val="F7F1E8"/>
                </a:solidFill>
                <a:latin typeface="Georgia"/>
              </a:rPr>
              <a:t>What we propose  ·  Open questions  ·  Future  ·  Next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OBLQAI  ·  Switzerland · Germany · Portugal  ·  hello@oblqai.com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11137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FF8449"/>
                </a:solidFill>
                <a:latin typeface="Calibri"/>
              </a:rPr>
              <a:t>WHAT WE PROPOSE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1" i="0">
                <a:solidFill>
                  <a:srgbClr val="000000"/>
                </a:solidFill>
                <a:latin typeface="Georgia"/>
              </a:rPr>
              <a:t>What we're building.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1">
                <a:solidFill>
                  <a:srgbClr val="666666"/>
                </a:solidFill>
                <a:latin typeface="Georgia"/>
              </a:rPr>
              <a:t>Four working groups. Sixteen capabilities. One desktop console.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08960"/>
            <a:ext cx="265176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108960"/>
            <a:ext cx="2651760" cy="54864"/>
          </a:xfrm>
          <a:prstGeom prst="rect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88888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 i="0">
                <a:solidFill>
                  <a:srgbClr val="000000"/>
                </a:solidFill>
                <a:latin typeface="Georgia"/>
              </a:rPr>
              <a:t>Consumer</a:t>
            </a:r>
          </a:p>
          <a:p>
            <a:pPr algn="l"/>
            <a:r>
              <a:rPr sz="2000" b="1" i="0">
                <a:solidFill>
                  <a:srgbClr val="000000"/>
                </a:solidFill>
                <a:latin typeface="Georgia"/>
              </a:rPr>
              <a:t>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7200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• B2C section on incotin.com.pt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• Brand voice tuned for consumers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• Store-finder (own + partner)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• Smart CTA per channel choice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349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8449"/>
                </a:solidFill>
                <a:latin typeface="Calibr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108960"/>
            <a:ext cx="265176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3108960"/>
            <a:ext cx="2651760" cy="54864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3375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888888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118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 i="0">
                <a:solidFill>
                  <a:srgbClr val="000000"/>
                </a:solidFill>
                <a:latin typeface="Georgia"/>
              </a:rPr>
              <a:t>Guided</a:t>
            </a:r>
          </a:p>
          <a:p>
            <a:pPr algn="l"/>
            <a:r>
              <a:rPr sz="2000" b="1" i="0">
                <a:solidFill>
                  <a:srgbClr val="000000"/>
                </a:solidFill>
                <a:latin typeface="Georgia"/>
              </a:rPr>
              <a:t>configurator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57200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• Claude-powered chat assistant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• INCOMIX recommendation engine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• Quantity + coverage calculator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• Conversation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349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108960"/>
            <a:ext cx="265176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108960"/>
            <a:ext cx="2651760" cy="54864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3375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888888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6118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 i="0">
                <a:solidFill>
                  <a:srgbClr val="000000"/>
                </a:solidFill>
                <a:latin typeface="Georgia"/>
              </a:rPr>
              <a:t>Content &amp;</a:t>
            </a:r>
          </a:p>
          <a:p>
            <a:pPr algn="l"/>
            <a:r>
              <a:rPr sz="2000" b="1" i="0">
                <a:solidFill>
                  <a:srgbClr val="000000"/>
                </a:solidFill>
                <a:latin typeface="Georgia"/>
              </a:rPr>
              <a:t>acquisition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57200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• Multi-channel inbound triage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• Social content drafts (IG · FB · TikTok)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• Google Ads management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• Google My Business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349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2D2D2D"/>
                </a:solidFill>
                <a:latin typeface="Calibri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3108960"/>
            <a:ext cx="265176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3108960"/>
            <a:ext cx="2651760" cy="54864"/>
          </a:xfrm>
          <a:prstGeom prst="rect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33375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888888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61188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 i="0">
                <a:solidFill>
                  <a:srgbClr val="000000"/>
                </a:solidFill>
                <a:latin typeface="Georgia"/>
              </a:rPr>
              <a:t>Operations</a:t>
            </a:r>
          </a:p>
          <a:p>
            <a:pPr algn="l"/>
            <a:r>
              <a:rPr sz="2000" b="1" i="0">
                <a:solidFill>
                  <a:srgbClr val="000000"/>
                </a:solidFill>
                <a:latin typeface="Georgia"/>
              </a:rPr>
              <a:t>&amp;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57200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• Airtable CRM (4 tables, no UI)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• Email connector — triage + drafts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• pt-PT reply drafts on every inbound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• Weekly + monthly digests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5349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8449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1">
                <a:solidFill>
                  <a:srgbClr val="2D2D2D"/>
                </a:solidFill>
                <a:latin typeface="Georgia"/>
              </a:rPr>
              <a:t>Phase 1 stands up all sixteen. Phase 2 (Hugo) inherits the same setup — no parallel infrastructure, no rework.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OBLQAI  ·  Claude Cowork Setup — Renato 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11137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1100" b="1" i="0">
                <a:solidFill>
                  <a:srgbClr val="FF8449"/>
                </a:solidFill>
                <a:latin typeface="Calibri"/>
              </a:rPr>
              <a:t>WHY TWO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4400" b="1" i="0">
                <a:solidFill>
                  <a:srgbClr val="FFFFFF"/>
                </a:solidFill>
                <a:latin typeface="Georgia"/>
              </a:rPr>
              <a:t>Why we do it in two phases.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1">
                <a:solidFill>
                  <a:srgbClr val="F7F1E8"/>
                </a:solidFill>
                <a:latin typeface="Georgia"/>
              </a:rPr>
              <a:t>Phase 1 first. Phase 2 once Phase 1 has proved itself. Here's why.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246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2000" b="1" i="0">
                <a:solidFill>
                  <a:srgbClr val="FFFFFF"/>
                </a:solidFill>
                <a:latin typeface="Georgia"/>
              </a:rPr>
              <a:t>Phase 2 needs what Phase 1 builds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7033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1200" b="0" i="0">
                <a:solidFill>
                  <a:srgbClr val="F7F1E8"/>
                </a:solidFill>
                <a:latin typeface="Calibri"/>
              </a:rPr>
              <a:t>Phase 2 is an autopilot — it reads your customer list, your past replies, your tone of voice, and your numbers. Phase 1 is what creates all of that. Without Phase 1, Phase 2 has nothing to work from.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79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29767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2000" b="1" i="0">
                <a:solidFill>
                  <a:srgbClr val="FFFFFF"/>
                </a:solidFill>
                <a:latin typeface="Georgia"/>
              </a:rPr>
              <a:t>You teach the system before it runs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754879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1200" b="0" i="0">
                <a:solidFill>
                  <a:srgbClr val="F7F1E8"/>
                </a:solidFill>
                <a:latin typeface="Calibri"/>
              </a:rPr>
              <a:t>In Phase 1, the system drafts your posts, replies, and content — and you say yes or no. That is how it learns what sounds like Incotin and what doesn't. Phase 2 inherits everything you taught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492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Georgia"/>
              </a:rPr>
              <a:t>Phase 2 turns on only when Phase 1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58064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F7F1E8"/>
                </a:solidFill>
                <a:latin typeface="Calibri"/>
              </a:rPr>
              <a:t>Phase 1 starts running your B2C operation in the first weeks. Once the results look right — visits, leads, first sales — we switch on Phase 2. If Phase 1 is already enough on its own, we stop there.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OBLQAI  ·  Claude Cowork Setup — Renato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8888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27C4E"/>
                </a:solidFill>
                <a:latin typeface="Calibri"/>
              </a:rPr>
              <a:t>THE ALTERNATIVE COST PICTURE — PORTUGAL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2D2D2D"/>
                </a:solidFill>
                <a:latin typeface="Georgia"/>
              </a:rPr>
              <a:t>What this costs any other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1" sz="1400">
                <a:solidFill>
                  <a:srgbClr val="666666"/>
                </a:solidFill>
                <a:latin typeface="Georgia"/>
              </a:rPr>
              <a:t>Realistic Portuguese SMB ranges to stand up the same B2C surface without us — what this engagement compresses. OBLQAI proposal numbers covered separately.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636443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217924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27C4E"/>
                </a:solidFill>
                <a:latin typeface="Calibri"/>
              </a:rPr>
              <a:t>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217924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2D2D2D"/>
                </a:solidFill>
                <a:latin typeface="Georgia"/>
              </a:rPr>
              <a:t>Operator you don't pay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1792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i="1">
                <a:solidFill>
                  <a:srgbClr val="666666"/>
                </a:solidFill>
                <a:latin typeface="Calibri"/>
              </a:rPr>
              <a:t>monthly cost of the team or agency that would otherwise do this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.0" y="3611880"/>
            <a:ext cx="2179243.75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3749040"/>
            <a:ext cx="2179243" cy="62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0">
                <a:solidFill>
                  <a:srgbClr val="2D2D2D"/>
                </a:solidFill>
                <a:latin typeface="Calibri"/>
              </a:rPr>
              <a:t>Path A — PT marketing agency on retainer</a:t>
            </a:r>
          </a:p>
          <a:p>
            <a:r>
              <a:rPr sz="900" i="1">
                <a:solidFill>
                  <a:srgbClr val="666666"/>
                </a:solidFill>
                <a:latin typeface="Calibri"/>
              </a:rPr>
              <a:t>(social + content + paid + GMB)</a:t>
            </a:r>
          </a:p>
          <a:p>
            <a:pPr algn="l"/>
            <a:r>
              <a:rPr sz="1050" b="1">
                <a:solidFill>
                  <a:srgbClr val="C27C4E"/>
                </a:solidFill>
                <a:latin typeface="Calibri"/>
              </a:rPr>
              <a:t>€1,500–3,500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19600"/>
            <a:ext cx="2179243" cy="62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0">
                <a:solidFill>
                  <a:srgbClr val="2D2D2D"/>
                </a:solidFill>
                <a:latin typeface="Calibri"/>
              </a:rPr>
              <a:t>Path B — One junior in-house generalist</a:t>
            </a:r>
          </a:p>
          <a:p>
            <a:r>
              <a:rPr sz="900" i="1">
                <a:solidFill>
                  <a:srgbClr val="666666"/>
                </a:solidFill>
                <a:latin typeface="Calibri"/>
              </a:rPr>
              <a:t>(gross + TSU + 13th/14th)</a:t>
            </a:r>
          </a:p>
          <a:p>
            <a:pPr algn="l"/>
            <a:r>
              <a:rPr sz="1050" b="1">
                <a:solidFill>
                  <a:srgbClr val="C27C4E"/>
                </a:solidFill>
                <a:latin typeface="Calibri"/>
              </a:rPr>
              <a:t>€1,200–2,000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090160"/>
            <a:ext cx="2179243" cy="62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0">
                <a:solidFill>
                  <a:srgbClr val="2D2D2D"/>
                </a:solidFill>
                <a:latin typeface="Calibri"/>
              </a:rPr>
              <a:t>Path B add-on — occasional freelance</a:t>
            </a:r>
          </a:p>
          <a:p>
            <a:r>
              <a:rPr sz="900" i="1">
                <a:solidFill>
                  <a:srgbClr val="666666"/>
                </a:solidFill>
                <a:latin typeface="Calibri"/>
              </a:rPr>
              <a:t>(paid media, copy, design)</a:t>
            </a:r>
          </a:p>
          <a:p>
            <a:pPr algn="l"/>
            <a:r>
              <a:rPr sz="1050" b="1">
                <a:solidFill>
                  <a:srgbClr val="C27C4E"/>
                </a:solidFill>
                <a:latin typeface="Calibri"/>
              </a:rPr>
              <a:t>€300–800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760720"/>
            <a:ext cx="2636443" cy="548640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870448"/>
            <a:ext cx="21792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E7E3DC"/>
                </a:solidFill>
                <a:latin typeface="Calibri"/>
              </a:rPr>
              <a:t>≈ €1,500–3,500 / 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7963" y="2286000"/>
            <a:ext cx="2636443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6563" y="2450592"/>
            <a:ext cx="217924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27C4E"/>
                </a:solidFill>
                <a:latin typeface="Calibri"/>
              </a:rPr>
              <a:t>BUILDS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6563" y="2697480"/>
            <a:ext cx="217924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2D2D2D"/>
                </a:solidFill>
                <a:latin typeface="Georgia"/>
              </a:rPr>
              <a:t>Builds you don't commission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6563" y="3246120"/>
            <a:ext cx="21792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i="1">
                <a:solidFill>
                  <a:srgbClr val="666666"/>
                </a:solidFill>
                <a:latin typeface="Calibri"/>
              </a:rPr>
              <a:t>one-time PT spend a realistic SMB would actually approve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96563.75" y="3611880"/>
            <a:ext cx="2179243.75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96563" y="3749040"/>
            <a:ext cx="21792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0">
                <a:solidFill>
                  <a:srgbClr val="2D2D2D"/>
                </a:solidFill>
                <a:latin typeface="Calibri"/>
              </a:rPr>
              <a:t>Guided configurator (PT freelance dev)</a:t>
            </a:r>
          </a:p>
          <a:p>
            <a:r>
              <a:rPr sz="900" i="1">
                <a:solidFill>
                  <a:srgbClr val="666666"/>
                </a:solidFill>
                <a:latin typeface="Calibri"/>
              </a:rPr>
              <a:t>the one piece worth real money</a:t>
            </a:r>
          </a:p>
          <a:p>
            <a:pPr algn="l"/>
            <a:r>
              <a:rPr sz="1050" b="1">
                <a:solidFill>
                  <a:srgbClr val="C27C4E"/>
                </a:solidFill>
                <a:latin typeface="Calibri"/>
              </a:rPr>
              <a:t>€4,000–12,000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6563" y="4251960"/>
            <a:ext cx="21792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0">
                <a:solidFill>
                  <a:srgbClr val="2D2D2D"/>
                </a:solidFill>
                <a:latin typeface="Calibri"/>
              </a:rPr>
              <a:t>B2C page bolt-on to BrightWeb site</a:t>
            </a:r>
          </a:p>
          <a:p>
            <a:r>
              <a:rPr sz="900" i="1">
                <a:solidFill>
                  <a:srgbClr val="666666"/>
                </a:solidFill>
                <a:latin typeface="Calibri"/>
              </a:rPr>
              <a:t>(change request, not overhaul)</a:t>
            </a:r>
          </a:p>
          <a:p>
            <a:pPr algn="l"/>
            <a:r>
              <a:rPr sz="1050" b="1">
                <a:solidFill>
                  <a:srgbClr val="C27C4E"/>
                </a:solidFill>
                <a:latin typeface="Calibri"/>
              </a:rPr>
              <a:t>€500–1,500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67963" y="5760720"/>
            <a:ext cx="2636443" cy="548640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96563" y="5870448"/>
            <a:ext cx="21792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/>
            <a:r>
              <a:rPr sz="1100" b="1">
                <a:solidFill>
                  <a:srgbClr val="E7E3DC"/>
                </a:solidFill>
                <a:latin typeface="Calibri"/>
              </a:rPr>
              <a:t>≈ €4,500–13,500 one-time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7287" y="2286000"/>
            <a:ext cx="2636443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5887" y="2450592"/>
            <a:ext cx="217924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27C4E"/>
                </a:solidFill>
                <a:latin typeface="Calibri"/>
              </a:rPr>
              <a:t>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2697480"/>
            <a:ext cx="217924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2D2D2D"/>
                </a:solidFill>
                <a:latin typeface="Georgia"/>
              </a:rPr>
              <a:t>SaaS stack you collapse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5887" y="3246120"/>
            <a:ext cx="21792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i="1">
                <a:solidFill>
                  <a:srgbClr val="666666"/>
                </a:solidFill>
                <a:latin typeface="Calibri"/>
              </a:rPr>
              <a:t>monthly subscription cost avoided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15887.5" y="3611880"/>
            <a:ext cx="2179243.75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15887" y="3749040"/>
            <a:ext cx="2179243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0">
                <a:solidFill>
                  <a:srgbClr val="2D2D2D"/>
                </a:solidFill>
                <a:latin typeface="Calibri"/>
              </a:rPr>
              <a:t>Configurator SaaS (mid-tier)</a:t>
            </a:r>
          </a:p>
          <a:p>
            <a:pPr algn="l"/>
            <a:r>
              <a:rPr sz="1050" b="1">
                <a:solidFill>
                  <a:srgbClr val="C27C4E"/>
                </a:solidFill>
                <a:latin typeface="Calibri"/>
              </a:rPr>
              <a:t>€100–600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5887" y="4151376"/>
            <a:ext cx="2179243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0">
                <a:solidFill>
                  <a:srgbClr val="2D2D2D"/>
                </a:solidFill>
                <a:latin typeface="Calibri"/>
              </a:rPr>
              <a:t>HubSpot / Salesforce starter</a:t>
            </a:r>
          </a:p>
          <a:p>
            <a:pPr algn="l"/>
            <a:r>
              <a:rPr sz="1050" b="1">
                <a:solidFill>
                  <a:srgbClr val="C27C4E"/>
                </a:solidFill>
                <a:latin typeface="Calibri"/>
              </a:rPr>
              <a:t>€50–250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5887" y="4553712"/>
            <a:ext cx="2179243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0">
                <a:solidFill>
                  <a:srgbClr val="2D2D2D"/>
                </a:solidFill>
                <a:latin typeface="Calibri"/>
              </a:rPr>
              <a:t>Marketing automation tool</a:t>
            </a:r>
          </a:p>
          <a:p>
            <a:pPr algn="l"/>
            <a:r>
              <a:rPr sz="1050" b="1">
                <a:solidFill>
                  <a:srgbClr val="C27C4E"/>
                </a:solidFill>
                <a:latin typeface="Calibri"/>
              </a:rPr>
              <a:t>€50–200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5887" y="4956048"/>
            <a:ext cx="2179243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0">
                <a:solidFill>
                  <a:srgbClr val="2D2D2D"/>
                </a:solidFill>
                <a:latin typeface="Calibri"/>
              </a:rPr>
              <a:t>Social scheduling + listening</a:t>
            </a:r>
          </a:p>
          <a:p>
            <a:pPr algn="l"/>
            <a:r>
              <a:rPr sz="1050" b="1">
                <a:solidFill>
                  <a:srgbClr val="C27C4E"/>
                </a:solidFill>
                <a:latin typeface="Calibri"/>
              </a:rPr>
              <a:t>€25–150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5887" y="5358384"/>
            <a:ext cx="2179243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0">
                <a:solidFill>
                  <a:srgbClr val="2D2D2D"/>
                </a:solidFill>
                <a:latin typeface="Calibri"/>
              </a:rPr>
              <a:t>Image / stock + design tools</a:t>
            </a:r>
          </a:p>
          <a:p>
            <a:pPr algn="l"/>
            <a:r>
              <a:rPr sz="1050" b="1">
                <a:solidFill>
                  <a:srgbClr val="C27C4E"/>
                </a:solidFill>
                <a:latin typeface="Calibri"/>
              </a:rPr>
              <a:t>€40–200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87287" y="5760720"/>
            <a:ext cx="2636443" cy="548640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5887" y="5870448"/>
            <a:ext cx="21792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E7E3DC"/>
                </a:solidFill>
                <a:latin typeface="Calibri"/>
              </a:rPr>
              <a:t>≈ €265–1,400 / month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611" y="2286000"/>
            <a:ext cx="2636443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5211" y="2450592"/>
            <a:ext cx="217924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C27C4E"/>
                </a:solidFill>
                <a:latin typeface="Calibri"/>
              </a:rPr>
              <a:t>MISTAKES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211" y="2697480"/>
            <a:ext cx="217924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2D2D2D"/>
                </a:solidFill>
                <a:latin typeface="Georgia"/>
              </a:rPr>
              <a:t>Mistakes you don't make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211" y="3246120"/>
            <a:ext cx="217924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i="1">
                <a:solidFill>
                  <a:srgbClr val="666666"/>
                </a:solidFill>
                <a:latin typeface="Calibri"/>
              </a:rPr>
              <a:t>revenue at risk · opportunity cost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235211.25" y="3611880"/>
            <a:ext cx="2179243.75" cy="0"/>
          </a:xfrm>
          <a:prstGeom prst="line">
            <a:avLst/>
          </a:prstGeom>
          <a:ln w="63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235211" y="3749040"/>
            <a:ext cx="2179243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0">
                <a:solidFill>
                  <a:srgbClr val="2D2D2D"/>
                </a:solidFill>
                <a:latin typeface="Calibri"/>
              </a:rPr>
              <a:t>Wasted ad spend / bad campaign</a:t>
            </a:r>
          </a:p>
          <a:p>
            <a:pPr algn="l"/>
            <a:r>
              <a:rPr sz="1050" b="1">
                <a:solidFill>
                  <a:srgbClr val="C27C4E"/>
                </a:solidFill>
                <a:latin typeface="Calibri"/>
              </a:rPr>
              <a:t>€500–2,500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211" y="4151376"/>
            <a:ext cx="2179243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0">
                <a:solidFill>
                  <a:srgbClr val="2D2D2D"/>
                </a:solidFill>
                <a:latin typeface="Calibri"/>
              </a:rPr>
              <a:t>6–12 mo delay vs DIY B2C entry</a:t>
            </a:r>
          </a:p>
          <a:p>
            <a:pPr algn="l"/>
            <a:r>
              <a:rPr sz="1050" b="1">
                <a:solidFill>
                  <a:srgbClr val="C27C4E"/>
                </a:solidFill>
                <a:latin typeface="Calibri"/>
              </a:rPr>
              <a:t>opportunity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211" y="4553712"/>
            <a:ext cx="2179243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0">
                <a:solidFill>
                  <a:srgbClr val="2D2D2D"/>
                </a:solidFill>
                <a:latin typeface="Calibri"/>
              </a:rPr>
              <a:t>Off-brand send / asset</a:t>
            </a:r>
          </a:p>
          <a:p>
            <a:pPr algn="l"/>
            <a:r>
              <a:rPr sz="1050" b="1">
                <a:solidFill>
                  <a:srgbClr val="C27C4E"/>
                </a:solidFill>
                <a:latin typeface="Calibri"/>
              </a:rPr>
              <a:t>trust loss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211" y="4956048"/>
            <a:ext cx="2179243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i="0">
                <a:solidFill>
                  <a:srgbClr val="2D2D2D"/>
                </a:solidFill>
                <a:latin typeface="Calibri"/>
              </a:rPr>
              <a:t>Manual errors on consumer file</a:t>
            </a:r>
          </a:p>
          <a:p>
            <a:pPr algn="l"/>
            <a:r>
              <a:rPr sz="1050" b="1">
                <a:solidFill>
                  <a:srgbClr val="C27C4E"/>
                </a:solidFill>
                <a:latin typeface="Calibri"/>
              </a:rPr>
              <a:t>RGPD risk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06611" y="5760720"/>
            <a:ext cx="2636443" cy="548640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35211" y="5870448"/>
            <a:ext cx="21792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E7E3DC"/>
                </a:solidFill>
                <a:latin typeface="Calibri"/>
              </a:rPr>
              <a:t>Not directly invoiceable. Often the largest line.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1" sz="900">
                <a:solidFill>
                  <a:srgbClr val="666666"/>
                </a:solidFill>
                <a:latin typeface="Calibri"/>
              </a:rPr>
              <a:t>Ranges anchored on typical Portuguese SMB rates (agency or junior + freelance for headcount; freelance / small-shop for the realistic builds; global SaaS list for stack). Not a quote — an alternative-cost reference. OBLQAI engagement pricing covered in the proposal call.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4114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2D2D2D"/>
                </a:solidFill>
                <a:latin typeface="Calibri"/>
              </a:rPr>
              <a:t>OBLQ ·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11137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FF8449"/>
                </a:solidFill>
                <a:latin typeface="Calibri"/>
              </a:rPr>
              <a:t>OPEN QUESTIONS  ·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800" b="1" i="0">
                <a:solidFill>
                  <a:srgbClr val="000000"/>
                </a:solidFill>
                <a:latin typeface="Georgia"/>
              </a:rPr>
              <a:t>Brand &amp; content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1">
                <a:solidFill>
                  <a:srgbClr val="666666"/>
                </a:solidFill>
                <a:latin typeface="Georgia"/>
              </a:rPr>
              <a:t>Second bucket: what shapes how the consumer experiences Incotin. Each is yours to 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1143000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1430000" cy="45720"/>
          </a:xfrm>
          <a:prstGeom prst="rect">
            <a:avLst/>
          </a:prstGeom>
          <a:solidFill>
            <a:srgbClr val="FF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FF8449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6207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Brand asset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2724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The system needs one source of truth for logos, colors, photos, and approved copy — so drafts stay consistent. Where should those assets live — Google Drive (simplest), a dedicated asset library (more structured), or stay on the BrightWeb site only?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803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FF8449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6207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Photography &amp; video for B2C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2724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The system can generate images, but a real B2C photo shoot (room shots, lifestyle, before/after) feels more authentic. Options: commission a new consumer shoot (best quality, takes time), use stock + AI images for v1 (fastest), or use the existing trade library and accept the industrial feel.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803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FF8449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26207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Language &amp; geography at 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52724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The system writes in any language, but each one doubles the content workload. Options: PT only (simplest), PT + ES (doubles reach), or include FR / Lusophone Africa from day one. Recommended: start narrow, expand once Phase 1 produces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03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FF8449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96207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Brand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22724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Two options: keep Incotin as one master brand (consumer + trade share the same identity), or create a B2C sub-brand like "Incotin Home". Master = unified but reads industrial. Sub-brand = freer to sound consumer-friendly, but splits the equity.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803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FF8449"/>
                </a:solidFill>
                <a:latin typeface="Calibr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66207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Brand voice ownership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927248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Someone needs to own the voice — approving when something sounds off, refining it over time. Who holds it — you, a marketing hire, family member, or external advisor?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OBLQAI  ·  Claude Cowork Setup — Renato 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11137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2D2D2D"/>
                </a:solidFill>
                <a:latin typeface="Calibri"/>
              </a:rPr>
              <a:t>PROCESSES TO CO-DEFINE  ·  WE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800" b="1" i="0">
                <a:solidFill>
                  <a:srgbClr val="000000"/>
                </a:solidFill>
                <a:latin typeface="Georgia"/>
              </a:rPr>
              <a:t>Working sessions we'll run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1">
                <a:solidFill>
                  <a:srgbClr val="666666"/>
                </a:solidFill>
                <a:latin typeface="Georgia"/>
              </a:rPr>
              <a:t>Each one is a focused session — output is a documented decision, not a checkbox.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2D2D2D"/>
                </a:solidFill>
                <a:latin typeface="Calibri"/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B2C launch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63240"/>
            <a:ext cx="5102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We sit down and decide where you sell first (PT only? PT + ES?), in which languages, and which channels go live first — web shop, Instagram, Google Ads. Output: a written launch plan with 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2D2D2D"/>
                </a:solidFill>
                <a:latin typeface="Calibri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611880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B2C product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931920"/>
            <a:ext cx="5102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We pick which paints and finishes go to consumers and which stay trade-only. We also map the INCOMIX guided builder — how many shades, what the customer journey looks like end-to-end.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2D2D2D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80560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B2C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800600"/>
            <a:ext cx="5102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We decide whether consumer prices match trade or stay separate. Recommended: keep B2C pricing separate so trade partners' margins stay protected. We agree the logic and write it down.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2D2D2D"/>
                </a:solidFill>
                <a:latin typeface="Calibri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349240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Returns &amp; refunds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669280"/>
            <a:ext cx="5102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We draft your B2C returns policy together: who owns the request, how many days the customer has, what conditions apply. Depends on the e-commerce model — pickup-pay vs. shipped order have very different rules.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2D2D2D"/>
                </a:solidFill>
                <a:latin typeface="Calibri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743200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Customer service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063240"/>
            <a:ext cx="5102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We pick when consumers can get help. Two options: 24/7 AI replies with a human on duty during business hours, or business hours only across the board. Both are valid — depends on volume tolerance.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11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2D2D2D"/>
                </a:solidFill>
                <a:latin typeface="Calibri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611880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Escalation playbook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931920"/>
            <a:ext cx="5102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We define what happens when the AI can't resolve something — who it pings, how fast a human needs to step in, and what the customer sees in the meantime. So nothing falls through the cracks.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4805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700" b="1" i="0">
                <a:solidFill>
                  <a:srgbClr val="2D2D2D"/>
                </a:solidFill>
                <a:latin typeface="Calibri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480560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Competitive landscape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800600"/>
            <a:ext cx="5102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We pick which Iberian and EU paint brands the system watches for you. It tracks their content, pricing moves, and campaigns — so you see what they're doing without spending time on 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OBLQAI  ·  Claude Cowork Setup — Renato 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11137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960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FUTURE ITERATIONS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400" b="1" i="0">
                <a:solidFill>
                  <a:srgbClr val="000000"/>
                </a:solidFill>
                <a:latin typeface="Georgia"/>
              </a:rPr>
              <a:t>Not blockers — natural next steps after Phase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1">
                <a:solidFill>
                  <a:srgbClr val="666666"/>
                </a:solidFill>
                <a:latin typeface="Georgia"/>
              </a:rPr>
              <a:t>Worth thinking about now because they'll be the natural extensions once the B2C operation has volume. None of these are required to 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888888"/>
                </a:solidFill>
                <a:latin typeface="Calibri"/>
              </a:rPr>
              <a:t>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A4A4A"/>
                </a:solidFill>
                <a:latin typeface="Calibri"/>
              </a:rPr>
              <a:t>Accounting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35808"/>
            <a:ext cx="5102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Moloni · PHC · Sage · InvoiceXpress — invoice + revenue sync once B2C orders 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888888"/>
                </a:solidFill>
                <a:latin typeface="Calibri"/>
              </a:rPr>
              <a:t>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20440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A4A4A"/>
                </a:solidFill>
                <a:latin typeface="Calibri"/>
              </a:rPr>
              <a:t>Inventory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13048"/>
            <a:ext cx="5102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Read stock levels from the trade-side system to prevent overselling.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888888"/>
                </a:solidFill>
                <a:latin typeface="Calibri"/>
              </a:rP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297680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A4A4A"/>
                </a:solidFill>
                <a:latin typeface="Calibri"/>
              </a:rPr>
              <a:t>Shipping &amp; fulfilment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90288"/>
            <a:ext cx="5102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Carrier APIs + label generation once order volume justifies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888888"/>
                </a:solidFill>
                <a:latin typeface="Calibri"/>
              </a:rPr>
              <a:t>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074920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A4A4A"/>
                </a:solidFill>
                <a:latin typeface="Calibri"/>
              </a:rPr>
              <a:t>B2B CRM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367528"/>
            <a:ext cx="5102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Overlap between trade customers and B2C consumers.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432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888888"/>
                </a:solidFill>
                <a:latin typeface="Calibri"/>
              </a:rPr>
              <a:t>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743200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A4A4A"/>
                </a:solidFill>
                <a:latin typeface="Calibri"/>
              </a:rPr>
              <a:t>ERP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035808"/>
            <a:ext cx="5102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Read-only Cowork ↔ production / availability.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204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888888"/>
                </a:solidFill>
                <a:latin typeface="Calibri"/>
              </a:rPr>
              <a:t>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520440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A4A4A"/>
                </a:solidFill>
                <a:latin typeface="Calibri"/>
              </a:rPr>
              <a:t>WhatsApp Business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813048"/>
            <a:ext cx="5102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When consumer messaging volume justifies upgrading from personal WhatsApp.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2976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 i="0">
                <a:solidFill>
                  <a:srgbClr val="888888"/>
                </a:solidFill>
                <a:latin typeface="Calibri"/>
              </a:rPr>
              <a:t>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297680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A4A4A"/>
                </a:solidFill>
                <a:latin typeface="Calibri"/>
              </a:rPr>
              <a:t>Customer service tooling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590288"/>
            <a:ext cx="5102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Zendesk · Intercom if scale demands beyond email + Cowork triage.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OBLQAI  ·  Claude Cowork Setup — Renato 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i="0">
                <a:solidFill>
                  <a:srgbClr val="888888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11137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FF8449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From here to a working B2C operation.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 i="0">
                <a:solidFill>
                  <a:srgbClr val="FF8449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429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Renato delivers the channels &amp; tools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840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7F1E8"/>
                </a:solidFill>
                <a:latin typeface="Calibri"/>
              </a:rPr>
              <a:t>By 2026-06-15. Locks the operating decisions on the open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 i="0">
                <a:solidFill>
                  <a:srgbClr val="FF8449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343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Joint working sessions on processes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7F1E8"/>
                </a:solidFill>
                <a:latin typeface="Calibri"/>
              </a:rPr>
              <a:t>B2C scope, product line, pricing, returns, service hours, escalation, competitor 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 i="0">
                <a:solidFill>
                  <a:srgbClr val="FF8449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257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Cowork Setup build kicks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669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7F1E8"/>
                </a:solidFill>
                <a:latin typeface="Calibri"/>
              </a:rPr>
              <a:t>30-day implementation. Renato runs the operation from day 1; Cowork does the lift.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OBLQAI  ·  hello@oblqai.com  ·  Switzerland · Germany · Portugal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