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18"/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115568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011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8449"/>
                </a:solidFill>
                <a:latin typeface="Calibri"/>
              </a:rPr>
              <a:t>CLAUDE COWORK SETUP  ·  USE CASES  ·  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Georgia"/>
              </a:rPr>
              <a:t>Incotin — How it runs in practice.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0" i="1">
                <a:solidFill>
                  <a:srgbClr val="F7F1E8"/>
                </a:solidFill>
                <a:latin typeface="Georgia"/>
              </a:rPr>
              <a:t>Eleven process flows. One operating system. The B2C engine, end to 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FF8449"/>
                </a:solidFill>
                <a:latin typeface="Calibri"/>
              </a:rPr>
              <a:t>Strategy  ·  CRM  ·  Website  ·  Content  ·  Visuals  ·  Ads  ·  GMB  ·  Triage  ·  Weekly review  ·  Escalation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AAAAAA"/>
                </a:solidFill>
                <a:latin typeface="Calibri"/>
              </a:rPr>
              <a:t>OBLQAI  ·  Switzerland · Germany · Portugal  ·  hello@oblqai.com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8449"/>
                </a:solidFill>
                <a:latin typeface="Calibri"/>
              </a:rPr>
              <a:t>PROCESS FLOW ·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1" i="0">
                <a:solidFill>
                  <a:srgbClr val="2D2D2D"/>
                </a:solidFill>
                <a:latin typeface="Georgia"/>
              </a:rPr>
              <a:t>How a consumer ends up in the CRM.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1">
                <a:solidFill>
                  <a:srgbClr val="4A4A4A"/>
                </a:solidFill>
                <a:latin typeface="Georgia"/>
              </a:rPr>
              <a:t>From search to logged lead — every step that runs through Cowork between a consumer landing on incotin.com.pt and Renato seeing them in the CRM.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Searches for paint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Consumer types something like "tinta para casa de banho com humidade" or "loja de tintas perto de mim".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Acquisition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220437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29195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2075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2075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Clicks a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2075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Lands via GMB listing, social post, ad, or organic search — all surfaces Cowork manages.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2075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Acquisition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100992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09750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2630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2630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Lands on B2C section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2630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Hits the new consumer-facing surface of incotin.com.pt — built and shipped through Cowork.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2630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Conversion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81547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90305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185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185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Describes the job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185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Opens the configurator chat. Plain-language brief. Claude asks 2–4 clarifying questions.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185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Conversion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862102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70860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53740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3740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Sees the match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3740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Specific Incotin product + INCOMIX color suggestion + quantity estimate — grounded in finish, condition, and m².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3740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Conversion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742657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951415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34295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34295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Acts on CTA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34295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Buys online · finds nearest store · requests sample. Lead + transcript + outcome written to the CRM.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34295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Conversion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621792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1">
                <a:solidFill>
                  <a:srgbClr val="4A4A4A"/>
                </a:solidFill>
                <a:latin typeface="Georgia"/>
              </a:rPr>
              <a:t>Every step above runs through Cowork. The consumer only sees the website and the configurator — everything operational is invisible.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88888"/>
                </a:solidFill>
                <a:latin typeface="Calibri"/>
              </a:rPr>
              <a:t>OBLQAI  ·  Claude Cowork Setup — Renato Pilot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51052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88888"/>
                </a:solidFill>
                <a:latin typeface="Calibri"/>
              </a:rPr>
              <a:t>2 / 13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1115568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8449"/>
                </a:solidFill>
                <a:latin typeface="Calibri"/>
              </a:rPr>
              <a:t>PROCESS FLOW ·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1" i="0">
                <a:solidFill>
                  <a:srgbClr val="2D2D2D"/>
                </a:solidFill>
                <a:latin typeface="Georgia"/>
              </a:rPr>
              <a:t>How an inbound message gets handled.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1">
                <a:solidFill>
                  <a:srgbClr val="4A4A4A"/>
                </a:solidFill>
                <a:latin typeface="Georgia"/>
              </a:rPr>
              <a:t>From an external sender pinging Incotin to a pt-PT reply going back out — with triage, CRM logging, and draft approval all happening through Cowork.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Message arrives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Consumer email lands at hello@incotin.com.pt. Or a marketplace pings. Or a partner sends a 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External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220437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29195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2075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2075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Cowork triages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2075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Sees every channel. Classifies: sales question · support · partner inquiry · spam. Routes to the right matter.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2075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Classify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100992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09750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2630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2630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Drafts pt-PT reply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2630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Claude composes the reply in Renato's voice. Queued for one-click approval.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2630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Draft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81547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90305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185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185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Logs to CRM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185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New Contact row (if new), new Conversation row, tags applied. Same CRM the configurator writes to.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185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Log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862102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70860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53740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3740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Renato approves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3740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Reads, edits if needed, clicks Send. Or marks it for a team member to send.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3740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Approve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742657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951415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34295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34295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Reply sent back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34295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Goes out via the same channel the message arrived on. Conversation row closed; outcome recorded.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34295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Send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621792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1">
                <a:solidFill>
                  <a:srgbClr val="4A4A4A"/>
                </a:solidFill>
                <a:latin typeface="Georgia"/>
              </a:rPr>
              <a:t>Renato never opens Airtable. Every inbound across every channel funnels into one CRM, with a draft already waiting.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88888"/>
                </a:solidFill>
                <a:latin typeface="Calibri"/>
              </a:rPr>
              <a:t>OBLQAI  ·  Claude Cowork Setup — Renato Pilot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51052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88888"/>
                </a:solidFill>
                <a:latin typeface="Calibri"/>
              </a:rPr>
              <a:t>3 / 13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1115568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8449"/>
                </a:solidFill>
                <a:latin typeface="Calibri"/>
              </a:rPr>
              <a:t>PROCESS FLOW ·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1" i="0">
                <a:solidFill>
                  <a:srgbClr val="2D2D2D"/>
                </a:solidFill>
                <a:latin typeface="Georgia"/>
              </a:rPr>
              <a:t>How content gets shipped.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1">
                <a:solidFill>
                  <a:srgbClr val="4A4A4A"/>
                </a:solidFill>
                <a:latin typeface="Georgia"/>
              </a:rPr>
              <a:t>From Renato asking what to post to the post going live — with the researcher plugin advising and Cowork doing the drafting.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Renato 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"What should I post this week?" Or "plan next month's ads." Conversation starts in Cowork.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Initiate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220437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29195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2075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2075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Plugin researches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2075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Researcher plugin pulls performance data, competitor signals, current trends — then suggests pillars + cadence.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2075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Strategy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100992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09750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2630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2630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Renato picks direction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2630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Reviews the plugin's suggestion. Confirms or adjusts the pillars. The plan is locked.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2630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Approve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81547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90305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185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185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Cowork drafts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185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Social copy, ad creative, GMB posts, blog articles — all in Renato's voice, ready to publish.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185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Draft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862102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70860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53740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3740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Renato approves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3740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Reads, edits if needed, one-click approve. Or hands off to a team member.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3740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Approve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742657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951415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34295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34295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Channel publishes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34295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Cowork schedules and sends through the right channel MCP. Reach + engagement logged back to the CRM.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34295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Distribute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621792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1">
                <a:solidFill>
                  <a:srgbClr val="4A4A4A"/>
                </a:solidFill>
                <a:latin typeface="Georgia"/>
              </a:rPr>
              <a:t>Performance feeds back into the next plugin run — the engine gets sharper each cycle.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88888"/>
                </a:solidFill>
                <a:latin typeface="Calibri"/>
              </a:rPr>
              <a:t>OBLQAI  ·  Claude Cowork Setup — Renato Pilot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51052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88888"/>
                </a:solidFill>
                <a:latin typeface="Calibri"/>
              </a:rPr>
              <a:t>4 / 13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1115568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8449"/>
                </a:solidFill>
                <a:latin typeface="Calibri"/>
              </a:rPr>
              <a:t>PROCESS FLOW ·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1" i="0">
                <a:solidFill>
                  <a:srgbClr val="2D2D2D"/>
                </a:solidFill>
                <a:latin typeface="Georgia"/>
              </a:rPr>
              <a:t>When Cowork hands off to a human.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1">
                <a:solidFill>
                  <a:srgbClr val="4A4A4A"/>
                </a:solidFill>
                <a:latin typeface="Georgia"/>
              </a:rPr>
              <a:t>Cowork errs on the side of escalation — bothering Renato is cheaper than sending a wrong reply. Five categories, each with an owner and an SLA.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54680"/>
            <a:ext cx="214884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375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8449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033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Pricing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888888"/>
                </a:solidFill>
                <a:latin typeface="Calibri"/>
              </a:rP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2D2D2D"/>
                </a:solidFill>
                <a:latin typeface="Calibri"/>
              </a:rPr>
              <a:t>Quote, custom order, bulk request.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03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888888"/>
                </a:solidFill>
                <a:latin typeface="Calibri"/>
              </a:rPr>
              <a:t>OWNER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32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2D2D2D"/>
                </a:solidFill>
                <a:latin typeface="Calibri"/>
              </a:rPr>
              <a:t>Renato direct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888888"/>
                </a:solidFill>
                <a:latin typeface="Calibri"/>
              </a:rPr>
              <a:t>SLA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893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8449"/>
                </a:solidFill>
                <a:latin typeface="Calibri"/>
              </a:rPr>
              <a:t>&lt; 4 h business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85033" y="3154680"/>
            <a:ext cx="214884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67913" y="33375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8449"/>
                </a:solidFill>
                <a:latin typeface="Georgia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67913" y="37033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Compliance / RGPD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67913" y="44348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888888"/>
                </a:solidFill>
                <a:latin typeface="Calibri"/>
              </a:rPr>
              <a:t>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7913" y="46634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2D2D2D"/>
                </a:solidFill>
                <a:latin typeface="Calibri"/>
              </a:rPr>
              <a:t>Data request, deletion, dispute.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67913" y="5303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888888"/>
                </a:solidFill>
                <a:latin typeface="Calibri"/>
              </a:rPr>
              <a:t>OWNER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67913" y="5532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2D2D2D"/>
                </a:solidFill>
                <a:latin typeface="Calibri"/>
              </a:rPr>
              <a:t>Renato + DPO if any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67913" y="58064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888888"/>
                </a:solidFill>
                <a:latin typeface="Calibri"/>
              </a:rPr>
              <a:t>SLA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67913" y="59893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8449"/>
                </a:solidFill>
                <a:latin typeface="Calibri"/>
              </a:rPr>
              <a:t>&lt; 24 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1427" y="3154680"/>
            <a:ext cx="214884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04307" y="33375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8449"/>
                </a:solidFill>
                <a:latin typeface="Georgia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04307" y="37033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Refund or warranty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04307" y="44348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888888"/>
                </a:solidFill>
                <a:latin typeface="Calibri"/>
              </a:rPr>
              <a:t>EXAMPLE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4307" y="46634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2D2D2D"/>
                </a:solidFill>
                <a:latin typeface="Calibri"/>
              </a:rPr>
              <a:t>Damage claim, faulty product.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04307" y="5303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888888"/>
                </a:solidFill>
                <a:latin typeface="Calibri"/>
              </a:rPr>
              <a:t>OWNER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04307" y="5532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2D2D2D"/>
                </a:solidFill>
                <a:latin typeface="Calibri"/>
              </a:rPr>
              <a:t>Renato or returns owner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04307" y="58064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888888"/>
                </a:solidFill>
                <a:latin typeface="Calibri"/>
              </a:rPr>
              <a:t>SLA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04307" y="59893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8449"/>
                </a:solidFill>
                <a:latin typeface="Calibri"/>
              </a:rPr>
              <a:t>&lt; 2 business days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57821" y="3154680"/>
            <a:ext cx="214884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0701" y="33375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8449"/>
                </a:solidFill>
                <a:latin typeface="Georgia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40701" y="37033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Legal or complaint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40701" y="44348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888888"/>
                </a:solidFill>
                <a:latin typeface="Calibri"/>
              </a:rPr>
              <a:t>EXAMPLE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40701" y="46634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2D2D2D"/>
                </a:solidFill>
                <a:latin typeface="Calibri"/>
              </a:rPr>
              <a:t>Threat of action, regulator inquiry.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40701" y="5303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888888"/>
                </a:solidFill>
                <a:latin typeface="Calibri"/>
              </a:rPr>
              <a:t>OWNER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40701" y="5532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2D2D2D"/>
                </a:solidFill>
                <a:latin typeface="Calibri"/>
              </a:rPr>
              <a:t>Renato — pause auto-reply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40701" y="58064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888888"/>
                </a:solidFill>
                <a:latin typeface="Calibri"/>
              </a:rPr>
              <a:t>SLA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40701" y="59893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8449"/>
                </a:solidFill>
                <a:latin typeface="Calibri"/>
              </a:rPr>
              <a:t>Same-day, manual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94215" y="3154680"/>
            <a:ext cx="214884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77095" y="33375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8449"/>
                </a:solidFill>
                <a:latin typeface="Georgia"/>
              </a:rP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77095" y="37033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Ambiguous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77095" y="44348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888888"/>
                </a:solidFill>
                <a:latin typeface="Calibri"/>
              </a:rPr>
              <a:t>EXAMPLE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77095" y="46634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2D2D2D"/>
                </a:solidFill>
                <a:latin typeface="Calibri"/>
              </a:rPr>
              <a:t>Cowork can't confidently classify — flags it.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77095" y="5303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888888"/>
                </a:solidFill>
                <a:latin typeface="Calibri"/>
              </a:rPr>
              <a:t>OWNER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77095" y="5532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2D2D2D"/>
                </a:solidFill>
                <a:latin typeface="Calibri"/>
              </a:rPr>
              <a:t>Renato — quick decide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77095" y="58064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888888"/>
                </a:solidFill>
                <a:latin typeface="Calibri"/>
              </a:rPr>
              <a:t>SLA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77095" y="59893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8449"/>
                </a:solidFill>
                <a:latin typeface="Calibri"/>
              </a:rPr>
              <a:t>Next review cycle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635508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1">
                <a:solidFill>
                  <a:srgbClr val="4A4A4A"/>
                </a:solidFill>
                <a:latin typeface="Georgia"/>
              </a:rPr>
              <a:t>Every escalation logs back to the CRM. Recurring categories surface in the monthly digest — so the rules get sharper over time.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88888"/>
                </a:solidFill>
                <a:latin typeface="Calibri"/>
              </a:rPr>
              <a:t>OBLQAI  ·  Claude Cowork Setup — Renato Pilot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89920" y="651052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88888"/>
                </a:solidFill>
                <a:latin typeface="Calibri"/>
              </a:rPr>
              <a:t>5 / 13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1115568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8449"/>
                </a:solidFill>
                <a:latin typeface="Calibri"/>
              </a:rPr>
              <a:t>PROCESS FLOW ·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1" i="0">
                <a:solidFill>
                  <a:srgbClr val="2D2D2D"/>
                </a:solidFill>
                <a:latin typeface="Georgia"/>
              </a:rPr>
              <a:t>How visuals get made and shipped.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1">
                <a:solidFill>
                  <a:srgbClr val="4A4A4A"/>
                </a:solidFill>
                <a:latin typeface="Georgia"/>
              </a:rPr>
              <a:t>Generation runs on a schedule. Renato approves the cuts that go live.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Schedule fires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Weekly Cowork task pings: campaign visuals due — social, GMB, hero. Or Renato asks directly.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Schedule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220437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29195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2075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2075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Plugin briefs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2075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Content plugin picks the topic from the weekly plan. Drafts visual prompts grounded in brand voice + product context.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2075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Plan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100992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09750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2630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2630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Skills generate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2630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Image-gen (Gemini Nano Banana) + video-gen (Veo3) produce variants. Brand guardrails enforced.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2630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Generate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81547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90305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185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185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Renato picks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185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Reviews the cut. Approves the strongest, rejects the rest. Drops feedback if anything's off-tone.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185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Approve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862102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70860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53740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3740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Asset library writes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3740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Approved asset saved to Drive (or chosen DAM). Tagged by topic, channel, language. Reusable.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3740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Store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742657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951415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34295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34295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Auto-publishes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34295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Feeds the channel queue. Goes live at the scheduled slot. Reach + engagement logged back.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34295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Distribute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621792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1">
                <a:solidFill>
                  <a:srgbClr val="4A4A4A"/>
                </a:solidFill>
                <a:latin typeface="Georgia"/>
              </a:rPr>
              <a:t>Image and video generation, brand guardrails, and scheduling all live as Cowork skills + plugins — one operator runs the whole engine.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88888"/>
                </a:solidFill>
                <a:latin typeface="Calibri"/>
              </a:rPr>
              <a:t>OBLQAI  ·  Claude Cowork Setup — Renato Pilot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51052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88888"/>
                </a:solidFill>
                <a:latin typeface="Calibri"/>
              </a:rPr>
              <a:t>6 / 13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1115568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8449"/>
                </a:solidFill>
                <a:latin typeface="Calibri"/>
              </a:rPr>
              <a:t>PROCESS FLOW ·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1" i="0">
                <a:solidFill>
                  <a:srgbClr val="2D2D2D"/>
                </a:solidFill>
                <a:latin typeface="Georgia"/>
              </a:rPr>
              <a:t>How the weekly plan gets 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1">
                <a:solidFill>
                  <a:srgbClr val="4A4A4A"/>
                </a:solidFill>
                <a:latin typeface="Georgia"/>
              </a:rPr>
              <a:t>Every Monday: competitor scan · SEO + GEO check · performance review. Output: next week's plan.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Monday fires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Scheduled Cowork task triggers at 09:00. Researcher plugin and analytics skills wake up.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Schedule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220437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29195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2075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2075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Competitor scan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2075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Pulls Iberian + EU paint-brand content, campaigns, pricing moves. Flags what's changing.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2075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Research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100992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09750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2630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2630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SEO + GEO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2630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Tracks ranking for target consumer keywords. Checks if Incotin shows up in ChatGPT, Perplexity, Gemini answers.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2630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Visibility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81547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90305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185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185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Performance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185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Last week's content, ads, GMB, configurator funnel. What converted, what stalled, what to cut.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185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Measure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862102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70860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53740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3740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Plan drafted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3740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Pillars, posts, ad tweaks, GMB updates, content priorities — assembled into a single review doc.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3740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Plan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742657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951415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34295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34295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Renato decides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34295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Reads, edits, approves. Plan locks into Cowork's calendar. Next-week execution starts automatically.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34295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Approve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621792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1">
                <a:solidFill>
                  <a:srgbClr val="4A4A4A"/>
                </a:solidFill>
                <a:latin typeface="Georgia"/>
              </a:rPr>
              <a:t>Same loop every Monday — the strategy stays current, the engine stays accountable, and Renato keeps the final call.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88888"/>
                </a:solidFill>
                <a:latin typeface="Calibri"/>
              </a:rPr>
              <a:t>OBLQAI  ·  Claude Cowork Setup — Renato Pilot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51052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88888"/>
                </a:solidFill>
                <a:latin typeface="Calibri"/>
              </a:rPr>
              <a:t>7 / 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621792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1">
                <a:solidFill>
                  <a:srgbClr val="4A4A4A"/>
                </a:solidFill>
                <a:latin typeface="Georgia"/>
              </a:rPr>
              <a:t/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1115568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8449"/>
                </a:solidFill>
                <a:latin typeface="Calibri"/>
              </a:rPr>
              <a:t>PROCESS FLOW ·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1" i="0">
                <a:solidFill>
                  <a:srgbClr val="2D2D2D"/>
                </a:solidFill>
                <a:latin typeface="Georgia"/>
              </a:rPr>
              <a:t>How Google Ads runs through Cowork.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1">
                <a:solidFill>
                  <a:srgbClr val="4A4A4A"/>
                </a:solidFill>
                <a:latin typeface="Georgia"/>
              </a:rPr>
              <a:t>Cowork drafts, monitors, and tunes. Renato approves new campaigns and spend changes — never opens the Ads dashboard.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Plugin proposes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Researcher plugin suggests campaigns: keywords, audience, budget pacing — tied to the weekly plan.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Strategy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220437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29195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2075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2075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Cowork drafts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2075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Ad copy, headlines, keyword lists, audiences, budget — in Renato's voice, tuned for B2C intent.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2075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Draft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100992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09750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2630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2630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Renato approves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2630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Reviews the campaign in Cowork. Approves, edits, or rejects. One conversation, no dashboard.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2630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Approve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81547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90305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185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185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Cowork publishes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185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Pushed live via the Google Ads MCP. Monitoring kicks in immediately.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185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Publish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862102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70860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53740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3740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Daily tuning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3740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Cowork watches bids, CTR, conversions. Reallocates within budget. Pauses underperformers automatically.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3740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Tune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742657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951415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34295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34295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Weekly digest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34295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Performance summary in Renato's calendar: spend, reach, conversions, recommendations for next week.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34295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Report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621792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1">
                <a:solidFill>
                  <a:srgbClr val="4A4A4A"/>
                </a:solidFill>
                <a:latin typeface="Georgia"/>
              </a:rPr>
              <a:t>Same skill stack works on Meta Ads or TikTok Ads if Renato turns those on — only the channel MCP changes.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88888"/>
                </a:solidFill>
                <a:latin typeface="Calibri"/>
              </a:rPr>
              <a:t>OBLQAI  ·  Claude Cowork Setup — Renato Pilot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51052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88888"/>
                </a:solidFill>
                <a:latin typeface="Calibri"/>
              </a:rPr>
              <a:t>8 / 13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1115568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8449"/>
                </a:solidFill>
                <a:latin typeface="Calibri"/>
              </a:rPr>
              <a:t>PROCESS FLOW ·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1" i="0">
                <a:solidFill>
                  <a:srgbClr val="2D2D2D"/>
                </a:solidFill>
                <a:latin typeface="Georgia"/>
              </a:rPr>
              <a:t>How Google My Business stays alive.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1">
                <a:solidFill>
                  <a:srgbClr val="4A4A4A"/>
                </a:solidFill>
                <a:latin typeface="Georgia"/>
              </a:rPr>
              <a:t>Local-search front door. Cowork keeps every store profile current, posting, and responsive.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Cadence runs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Cowork checks GMB profiles weekly: posts due, Q&amp;A pending, reviews unread, photos stale.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Monitor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220437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29195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2075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2075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Drafts posts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2075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New GMB post drafted per store — promotions, product highlights, store events. Tuned for local intent.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2075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Draft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100992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09750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2630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2630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Handles reviews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2630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Drafts pt-PT review replies in Renato's voice — for every new review, positive or negative.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2630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Respond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81547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90305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185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185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Answers Q&amp;A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185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Customer questions drafted from product knowledge + store info. Pushed back to Cowork for approval.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185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Engage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862102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70860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53740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3740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Renato approves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3740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Sees the GMB queue in Cowork. Approves the batch. One pass per week, all stores covered.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3740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Approve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742657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951415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34295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34295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Publishes + tracks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34295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Goes live via the GMB MCP. Impressions, calls, direction requests logged back to the CRM.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34295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Distribute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621792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1">
                <a:solidFill>
                  <a:srgbClr val="4A4A4A"/>
                </a:solidFill>
                <a:latin typeface="Georgia"/>
              </a:rPr>
              <a:t>Every store profile, every week, no missed reviews — the local front door stays sharp without a marketing hire.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88888"/>
                </a:solidFill>
                <a:latin typeface="Calibri"/>
              </a:rPr>
              <a:t>OBLQAI  ·  Claude Cowork Setup — Renato Pilot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51052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88888"/>
                </a:solidFill>
                <a:latin typeface="Calibri"/>
              </a:rPr>
              <a:t>9 / 13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1115568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115568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8449"/>
                </a:solidFill>
                <a:latin typeface="Calibri"/>
              </a:rPr>
              <a:t>PROCESS FLOW ·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1" i="0">
                <a:solidFill>
                  <a:srgbClr val="2D2D2D"/>
                </a:solidFill>
                <a:latin typeface="Georgia"/>
              </a:rPr>
              <a:t>How the website gets built and updated.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1">
                <a:solidFill>
                  <a:srgbClr val="4A4A4A"/>
                </a:solidFill>
                <a:latin typeface="Georgia"/>
              </a:rPr>
              <a:t>Renato describes the change in plain language. Cowork ships it to incotin.com.pt — no developer in the loop.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Renato describes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"Add a bathroom-moisture section with INCOMIX picks." Or "change the hero copy." Plain language brief.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Brief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220437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29195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2075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2075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Cowork drafts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2075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Generates the page or section — copy, layout, calls-to-action — in brand voice + product context. Shows a preview.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2075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Draft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100992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09750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2630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2630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Renato reviews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2630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Sees the proposed change side-by-side with the current site. Approves, edits, or asks for variants.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2630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Review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81547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90305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185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185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Pushed to staging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185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Via the website MCP. Renato sees the live preview at a staging URL before anything goes public.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185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Stage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862102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70860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53740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3740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Renato approves go-live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3740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One word in Cowork. No CMS UI, no version-control dance, no developer ticket.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3740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Approve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742657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951415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34295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34295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Live + logged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34295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Published to incotin.com.pt. Change logged with timestamp, reason, and diff to the CRM. Easy to roll back.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34295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Ship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621792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1">
                <a:solidFill>
                  <a:srgbClr val="4A4A4A"/>
                </a:solidFill>
                <a:latin typeface="Georgia"/>
              </a:rPr>
              <a:t>The site stays alive without a developer in the loop. Phase 2 (Hugo) ships smaller iterations on its own; Renato keeps the final say on anything material.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88888"/>
                </a:solidFill>
                <a:latin typeface="Calibri"/>
              </a:rPr>
              <a:t>OBLQAI  ·  Claude Cowork Setup — Renato Pilot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51052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88888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115568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8449"/>
                </a:solidFill>
                <a:latin typeface="Calibri"/>
              </a:rPr>
              <a:t>PROCESS FLOW ·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1" i="0">
                <a:solidFill>
                  <a:srgbClr val="2D2D2D"/>
                </a:solidFill>
                <a:latin typeface="Georgia"/>
              </a:rPr>
              <a:t>How online strategy gets 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1">
                <a:solidFill>
                  <a:srgbClr val="4A4A4A"/>
                </a:solidFill>
                <a:latin typeface="Georgia"/>
              </a:rPr>
              <a:t>Before tactical execution, the strategy agent builds the foundation — segments, pricing, channels, content pillars, voice. Renato approves once; every other flow inherits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Renato briefs the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"Here's what Incotin sells, the B2C goal, the markets I'm thinking about, what's already true." Plain language, one conversation.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Brief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220437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29195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2075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2075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Agent researches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2075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Pulls competitor landscape (Iberian + EU paint), B2C market sizing, consumer behavior, pricing benchmarks, channel performance signals.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2075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Research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100992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09750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2630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2630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Drafts strategy options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2630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Builds 2–3 coherent strategic plays — segments × channels × pricing × content pillars × voice. Each one is a path, not a menu.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2630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Synthesize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81547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90305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185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185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Renato chooses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185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Reads the options. Asks questions. Picks the direction — or asks the agent to combine, refine, sharpen.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185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Decide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862102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70860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53740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3740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Baseline locks 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3740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Voice profile, content pillars, target segments, pricing logic, channel sequence — all written to Cowork skills + Airtable.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3740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Codify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742657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951415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34295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34295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Everything inherits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34295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Content, ads, GMB, configurator copy, social — every other flow starts from this baseline. Quarterly refresh; the agent surfaces drift.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34295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Operationalise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621792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1">
                <a:solidFill>
                  <a:srgbClr val="4A4A4A"/>
                </a:solidFill>
                <a:latin typeface="Georgia"/>
              </a:rPr>
              <a:t>Strategy isn't a one-off slide — it's a Cowork skill that lives in the system and feeds every other flow. The plan stays current because the agent stays running.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88888"/>
                </a:solidFill>
                <a:latin typeface="Calibri"/>
              </a:rPr>
              <a:t>OBLQAI  ·  Claude Cowork Setup — Renato Pilot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51052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88888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115568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8449"/>
                </a:solidFill>
                <a:latin typeface="Calibri"/>
              </a:rPr>
              <a:t>PROCESS FLOW ·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1" i="0">
                <a:solidFill>
                  <a:srgbClr val="2D2D2D"/>
                </a:solidFill>
                <a:latin typeface="Georgia"/>
              </a:rPr>
              <a:t>How the CRM strategy starts.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1">
                <a:solidFill>
                  <a:srgbClr val="4A4A4A"/>
                </a:solidFill>
                <a:latin typeface="Georgia"/>
              </a:rPr>
              <a:t>Every consumer touch lands in one place. Tags, stages, scores, and next-actions grow with the data — a basic CRM that compounds.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Every touch lands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Configurator session, email, marketplace ping, GMB call, social DM — all logged as a Contact with channel + first-touch context.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Capture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220437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29195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2075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2075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Intent gets tagged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2075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Cowork classifies what the consumer wanted — color advice, product spec, sample, store info, purchase intent. Tags attach to the Conversation.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2075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Classify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100992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09750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2630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2630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Lifecycle stage 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2630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Browser · Qualified Lead · Sample Requested · Buyer · Repeat · Advocate. Stage moves automatically as behaviour evolves.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2630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Stage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81547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90305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185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185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Score updates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185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Behaviour-based: configurator depth, multi-session, sample requested, store visited, email opened. Score rises with engagement.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185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Score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862102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70860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53740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3740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Next action triggers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3740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High score + buyer intent → buy-now nudge. Sample requested → 14-day follow-up. Cold lead → 30-day re-engagement.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3740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Act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742657" y="4617720"/>
            <a:ext cx="228600" cy="164592"/>
          </a:xfrm>
          <a:prstGeom prst="rightArrow">
            <a:avLst/>
          </a:prstGeom>
          <a:solidFill>
            <a:srgbClr val="FF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951415" y="3200400"/>
            <a:ext cx="16916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34295" y="33832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8449"/>
                </a:solidFill>
                <a:latin typeface="Georgia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34295" y="38404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D2D2D"/>
                </a:solidFill>
                <a:latin typeface="Georgia"/>
              </a:rPr>
              <a:t>Cohorts surface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34295" y="457200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2D2D2D"/>
                </a:solidFill>
                <a:latin typeface="Calibri"/>
              </a:rPr>
              <a:t>Monthly digest: who converted, where they dropped off, which products got asked about. Segments refine over time.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34295" y="5623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1">
                <a:solidFill>
                  <a:srgbClr val="FF8449"/>
                </a:solidFill>
                <a:latin typeface="Calibri"/>
              </a:rPr>
              <a:t>Learn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621792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1">
                <a:solidFill>
                  <a:srgbClr val="4A4A4A"/>
                </a:solidFill>
                <a:latin typeface="Georgia"/>
              </a:rPr>
              <a:t>The structure stays simple at launch. Depth comes from the behaviour the system observes — segments and rules sharpen quarterly.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88888"/>
                </a:solidFill>
                <a:latin typeface="Calibri"/>
              </a:rPr>
              <a:t>OBLQAI  ·  Claude Cowork Setup — Renato Pilot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51052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88888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115568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9601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8449"/>
                </a:solidFill>
                <a:latin typeface="Calibri"/>
              </a:rPr>
              <a:t>WHAT YOU JUST SAW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200" b="1" i="0">
                <a:solidFill>
                  <a:srgbClr val="FFFFFF"/>
                </a:solidFill>
                <a:latin typeface="Georgia"/>
              </a:rPr>
              <a:t>One operating system.
Eleven flows. Zero new hires.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1">
                <a:solidFill>
                  <a:srgbClr val="F7F1E8"/>
                </a:solidFill>
                <a:latin typeface="Georgia"/>
              </a:rPr>
              <a:t>Every flow runs through Cowork — same console, same data, same approval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FF8449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How online strategy gets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58768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F7F1E8"/>
                </a:solidFill>
                <a:latin typeface="Calibri"/>
              </a:rPr>
              <a:t>Strategy agent · segments · pricing · pillars · voice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6576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FF8449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365760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How the CRM strategy starts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3858768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F7F1E8"/>
                </a:solidFill>
                <a:latin typeface="Calibri"/>
              </a:rPr>
              <a:t>Touches · tags · stages · scores · next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7822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FF8449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078224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How the website gets built and updated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279392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F7F1E8"/>
                </a:solidFill>
                <a:latin typeface="Calibri"/>
              </a:rPr>
              <a:t>Plain-language brief → Cowork ships to incotin.com.pt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07822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FF8449"/>
                </a:solidFill>
                <a:latin typeface="Georgia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078224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How a consumer ends up in the CRM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4279392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F7F1E8"/>
                </a:solidFill>
                <a:latin typeface="Calibri"/>
              </a:rPr>
              <a:t>Search → click → B2C section → recommendation → CRM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988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FF8449"/>
                </a:solidFill>
                <a:latin typeface="Georgia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498848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How an inbound message gets handled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700016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F7F1E8"/>
                </a:solidFill>
                <a:latin typeface="Calibri"/>
              </a:rPr>
              <a:t>Triage → pt-PT draft → log → approve → send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4988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FF8449"/>
                </a:solidFill>
                <a:latin typeface="Georgia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498848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How content gets shipped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00016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F7F1E8"/>
                </a:solidFill>
                <a:latin typeface="Calibri"/>
              </a:rPr>
              <a:t>Plugin advises · Cowork drafts · Renato approves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91947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FF8449"/>
                </a:solidFill>
                <a:latin typeface="Georgia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919472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How visuals get made and shipped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12064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F7F1E8"/>
                </a:solidFill>
                <a:latin typeface="Calibri"/>
              </a:rPr>
              <a:t>Schedule fires · skills generate · auto-publish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91947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FF8449"/>
                </a:solidFill>
                <a:latin typeface="Georgia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919472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How Google Ads runs through Cowork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512064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F7F1E8"/>
                </a:solidFill>
                <a:latin typeface="Calibri"/>
              </a:rPr>
              <a:t>Drafts · publishes · tunes daily · weekly digest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34009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FF8449"/>
                </a:solidFill>
                <a:latin typeface="Georgia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340096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How Google My Business stays alive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541264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F7F1E8"/>
                </a:solidFill>
                <a:latin typeface="Calibri"/>
              </a:rPr>
              <a:t>Posts · reviews · Q&amp;A · local-search performance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34009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FF8449"/>
                </a:solidFill>
                <a:latin typeface="Georgia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5340096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How the weekly plan gets set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5541264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F7F1E8"/>
                </a:solidFill>
                <a:latin typeface="Calibri"/>
              </a:rPr>
              <a:t>Competitor · SEO + GEO · performance → next-week 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7607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FF8449"/>
                </a:solidFill>
                <a:latin typeface="Georgia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76072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When Cowork hands off to a human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5961888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F7F1E8"/>
                </a:solidFill>
                <a:latin typeface="Calibri"/>
              </a:rPr>
              <a:t>Escalation playbook · five categories · owner + SLA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651052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AAAAAA"/>
                </a:solidFill>
                <a:latin typeface="Calibri"/>
              </a:rPr>
              <a:t>OBLQAI  ·  hello@oblqai.com  ·  Switzerland · Germany · Portugal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