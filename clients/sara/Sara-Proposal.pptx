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3502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CLAUDE COWORK SETUP · PROPOSTA · MAIO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000000"/>
                </a:solidFill>
                <a:latin typeface="Georgia"/>
              </a:rPr>
              <a:t>A sua clínica com mais agenda, menos trabalho.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9584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Calibri"/>
              </a:rPr>
              <a:t>Quatro prioridades, uma camada de inteligência sobre a automação que já tem em funcionamento. Não substitui — amplia.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2354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6B7280"/>
                </a:solidFill>
                <a:latin typeface="Calibri"/>
              </a:rPr>
              <a:t>CLÍNICA DE ESTÉTICA · PORTUGAL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" y="9308592"/>
            <a:ext cx="11430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223760" y="9235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8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070080" y="1828799"/>
            <a:ext cx="53035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070080" y="1920239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6B7280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93040" y="1892807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Georgia"/>
              </a:rPr>
              <a:t>Jornada do paciente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070080" y="2743200"/>
            <a:ext cx="53035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070080" y="2816351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6B728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93040" y="27889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Georgia"/>
              </a:rPr>
              <a:t>Sugestões de IA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070080" y="3639311"/>
            <a:ext cx="53035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070080" y="3712463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6B728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93040" y="3685031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Georgia"/>
              </a:rPr>
              <a:t>Pacotes digitais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070080" y="4535424"/>
            <a:ext cx="53035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070080" y="460857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6B7280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0" y="458114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Georgia"/>
              </a:rPr>
              <a:t>Briefing pré-consulta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070080" y="5431536"/>
            <a:ext cx="53035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070080" y="55046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6B7280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93040" y="5477255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Georgia"/>
              </a:rPr>
              <a:t>Arquitetura · loop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070080" y="6327648"/>
            <a:ext cx="53035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070080" y="6400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6B7280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3040" y="63733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Georgia"/>
              </a:rPr>
              <a:t>Fora da Fase 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070080" y="7223760"/>
            <a:ext cx="53035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070080" y="72969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6B7280"/>
                </a:solidFill>
                <a:latin typeface="Calibr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93040" y="7269479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Georgia"/>
              </a:rPr>
              <a:t>Como chegamos lá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070080" y="8119871"/>
            <a:ext cx="53035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070080" y="819302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6B7280"/>
                </a:solidFill>
                <a:latin typeface="Calibr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93040" y="816559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Georgia"/>
              </a:rPr>
              <a:t>Próximo passo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070080" y="9015984"/>
            <a:ext cx="53035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O QUE PROPOMOS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52728"/>
            <a:ext cx="1645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000000"/>
                </a:solidFill>
                <a:latin typeface="Georgia"/>
              </a:rPr>
              <a:t>4 prioridades.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57984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4B5563"/>
                </a:solidFill>
                <a:latin typeface="Calibri"/>
              </a:rPr>
              <a:t>Uma camada de inteligência sobre a automação que já tem em funcionamento. Não substitui — amplia.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27248"/>
            <a:ext cx="3941063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127248"/>
            <a:ext cx="3941063" cy="64008"/>
          </a:xfrm>
          <a:prstGeom prst="rect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3832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spc="40">
                <a:solidFill>
                  <a:srgbClr val="6B728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03320"/>
            <a:ext cx="33924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COMUNICAÇÃO · WHATSAPP ·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77639"/>
            <a:ext cx="33924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Georgia"/>
              </a:rPr>
              <a:t>Jornada do paciente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617720"/>
            <a:ext cx="33924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Georgia"/>
              </a:rPr>
              <a:t>Mensagens personalizadas e contextuais antes e depois de cada consulta.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20" y="5897880"/>
            <a:ext cx="3392424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88720" y="6035040"/>
            <a:ext cx="339242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• Vai além dos lembretes básicos já em uso.
• Lê o histórico individual de cada paciente.
• Aprovação humana para mensagens sensíveis.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7779" y="3127248"/>
            <a:ext cx="3941063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97779" y="3127248"/>
            <a:ext cx="3941063" cy="64008"/>
          </a:xfrm>
          <a:prstGeom prst="rect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2099" y="33832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spc="40">
                <a:solidFill>
                  <a:srgbClr val="6B7280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2099" y="3703320"/>
            <a:ext cx="33924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INTELIGÊNCIA · PADRÕES ·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2099" y="3977639"/>
            <a:ext cx="33924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Georgia"/>
              </a:rPr>
              <a:t>Sugestões de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2099" y="4617720"/>
            <a:ext cx="33924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Georgia"/>
              </a:rPr>
              <a:t>Próxima ação por paciente, aprendida a partir dos padrões na base.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72099" y="5897880"/>
            <a:ext cx="3392424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72099" y="6035040"/>
            <a:ext cx="339242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• Reativação, manutenção, cross-sell, upsell.
• Sugestão, justificação e nível de confiança.
• Aprende com cada decisão tua.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59" y="3127248"/>
            <a:ext cx="3941063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59" y="3127248"/>
            <a:ext cx="3941063" cy="64008"/>
          </a:xfrm>
          <a:prstGeom prst="rect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33832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spc="40">
                <a:solidFill>
                  <a:srgbClr val="6B7280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03320"/>
            <a:ext cx="33924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PACOTES · CRM · CONFIRMAÇÕES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977639"/>
            <a:ext cx="33924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Georgia"/>
              </a:rPr>
              <a:t>Pacotes digitais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4617720"/>
            <a:ext cx="33924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Georgia"/>
              </a:rPr>
              <a:t>Fim do controlo em papel; sessões registadas e confirmadas.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55480" y="5897880"/>
            <a:ext cx="3392423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55480" y="6035040"/>
            <a:ext cx="339242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• Sessão concluída registada com 1 clique.
• Paciente confirma e sabe quantas faltam.
• Recordatórios proativos antes do fim do pacote.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464539" y="3127248"/>
            <a:ext cx="3941063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464539" y="3127248"/>
            <a:ext cx="3941063" cy="64008"/>
          </a:xfrm>
          <a:prstGeom prst="rect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38859" y="33832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spc="40">
                <a:solidFill>
                  <a:srgbClr val="6B7280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38859" y="3703320"/>
            <a:ext cx="33924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BRIEFING · AGENDA · CONTEXTO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38859" y="3977639"/>
            <a:ext cx="33924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Georgia"/>
              </a:rPr>
              <a:t>Briefing pré-consulta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38859" y="4617720"/>
            <a:ext cx="33924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Georgia"/>
              </a:rPr>
              <a:t>Resumo curto de cada paciente do dia, entregue antes de começar.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3738859" y="5897880"/>
            <a:ext cx="3392424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738859" y="6035040"/>
            <a:ext cx="339242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• Histórico, queixas, estado dos pacotes.
• Próxima ação sugerida no fim da consulta.
• Pelo canal que preferires (email, WhatsApp).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97383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O QUE PROPOMOS · CLÍNICA DA SARA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02 / 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ARQUITETURA · LOOP AUTO-MELHORÁVEL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52728"/>
            <a:ext cx="1691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50" b="0" i="0">
                <a:solidFill>
                  <a:srgbClr val="2D2D2D"/>
                </a:solidFill>
                <a:latin typeface="Georgia"/>
              </a:rPr>
              <a:t>O que fica depois da Fase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4B5563"/>
                </a:solidFill>
                <a:latin typeface="Calibri"/>
              </a:rPr>
              <a:t>Não vai ficar com automações. Vai ficar com um sistema que se compõe com o uso — uma base de dados permanente, um loop de cinco passos, e os humanos só onde a realidade exige.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30175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8862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434840"/>
            <a:ext cx="2468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SENSOR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709160"/>
            <a:ext cx="24688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Georgia"/>
              </a:rPr>
              <a:t>Sinal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349240"/>
            <a:ext cx="24688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Eventos da agenda, mensagens recebidas, notas das consultas, respostas dos pacientes.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86783" y="5010912"/>
            <a:ext cx="246888" cy="228600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79" y="3657600"/>
            <a:ext cx="30175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38862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4434840"/>
            <a:ext cx="2468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4709160"/>
            <a:ext cx="24688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Georgia"/>
              </a:rPr>
              <a:t>Decisão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5349240"/>
            <a:ext cx="24688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Claude lê o contexto e decide: responder, escalar, escalar à Sara, ou registar.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70063" y="5010912"/>
            <a:ext cx="246888" cy="228600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59" y="3657600"/>
            <a:ext cx="30175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8862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434840"/>
            <a:ext cx="2468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709160"/>
            <a:ext cx="24688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Georgia"/>
              </a:rPr>
              <a:t>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349240"/>
            <a:ext cx="24688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MCPs executam: agenda, WhatsApp, email, CRM, inferência local para dados clínicos.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753344" y="5010912"/>
            <a:ext cx="246888" cy="228600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064240" y="3657600"/>
            <a:ext cx="30175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0" y="38862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4434840"/>
            <a:ext cx="2468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QUALITY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4709160"/>
            <a:ext cx="24688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Georgia"/>
              </a:rPr>
              <a:t>Validação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5349240"/>
            <a:ext cx="24688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Mensagens sensíveis aprovadas pela Sara. Verificação de voz da clínica e sanidade.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4136624" y="5010912"/>
            <a:ext cx="246888" cy="228600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4447519" y="3657600"/>
            <a:ext cx="30175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721839" y="38862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21839" y="4434840"/>
            <a:ext cx="2468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21839" y="4709160"/>
            <a:ext cx="24688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Georgia"/>
              </a:rPr>
              <a:t>Aprendizagem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21839" y="5349240"/>
            <a:ext cx="24688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Revisão semanal automática gera patches para os passos anteriores.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81228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Georgia"/>
              </a:rPr>
              <a:t>↻  Cada semana, o passo 5 atualiza o passo 2. O sistema melhora porque é usado, não porque alguém escreve código.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7498079"/>
            <a:ext cx="5242560" cy="1828800"/>
          </a:xfrm>
          <a:prstGeom prst="roundRect">
            <a:avLst>
              <a:gd name="adj" fmla="val 4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7726679"/>
            <a:ext cx="469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BASE DE DADOS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8001000"/>
            <a:ext cx="469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Company Brain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8458200"/>
            <a:ext cx="4693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Tudo o que a clínica produz: pacientes, visitas, mensagens, sugestões. Permanente.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22720" y="7498079"/>
            <a:ext cx="5242560" cy="1828800"/>
          </a:xfrm>
          <a:prstGeom prst="roundRect">
            <a:avLst>
              <a:gd name="adj" fmla="val 4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97040" y="7726679"/>
            <a:ext cx="469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CAMADA REGENERÁVEL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97040" y="8001000"/>
            <a:ext cx="469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Software efémero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7040" y="8458200"/>
            <a:ext cx="4693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Prompts, regras, automações. Substituível conforme o Claude evolui.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131040" y="7498079"/>
            <a:ext cx="5242560" cy="1828800"/>
          </a:xfrm>
          <a:prstGeom prst="roundRect">
            <a:avLst>
              <a:gd name="adj" fmla="val 4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405360" y="7726679"/>
            <a:ext cx="469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EDGE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05360" y="8001000"/>
            <a:ext cx="469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Interface humano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05360" y="8458200"/>
            <a:ext cx="4693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Sara como DRI. Equipa como DRIs locais. Só onde a realidade exige.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97383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ARQUITETURA · CLÍNICA DA SARA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03 / 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FORA DA FASE 1 · POR ENQUANTO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52728"/>
            <a:ext cx="1691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50" b="0" i="0">
                <a:solidFill>
                  <a:srgbClr val="2D2D2D"/>
                </a:solidFill>
                <a:latin typeface="Georgia"/>
              </a:rPr>
              <a:t>O que deixamos para depois.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4B5563"/>
                </a:solidFill>
                <a:latin typeface="Calibri"/>
              </a:rPr>
              <a:t>Não tudo de uma vez. Estes temas ficam à espera de a Fase 1 estar a produzir dados — para depois decidirmos com base no que vimos.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3941063" cy="5303520"/>
          </a:xfrm>
          <a:prstGeom prst="roundRect">
            <a:avLst>
              <a:gd name="adj" fmla="val 3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3392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NOTAS EM PAPEL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33924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Digitalização das notas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4754880"/>
            <a:ext cx="3392424" cy="0"/>
          </a:xfrm>
          <a:prstGeom prst="line">
            <a:avLst/>
          </a:prstGeom>
          <a:ln w="9525">
            <a:solidFill>
              <a:srgbClr val="D4D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88720" y="4892040"/>
            <a:ext cx="3392423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Três abordagens em cima da mesa (assistente em consulta · scan pós-consulta · captura no momento dos documentos). Escolha durante a descoberta, build numa fase seguinte.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7779" y="3291840"/>
            <a:ext cx="3941063" cy="5303520"/>
          </a:xfrm>
          <a:prstGeom prst="roundRect">
            <a:avLst>
              <a:gd name="adj" fmla="val 3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72099" y="3566160"/>
            <a:ext cx="3392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RECEITA PERDIDA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2099" y="3840480"/>
            <a:ext cx="33924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Recuperação de no-shows e cancelamentos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72099" y="4754880"/>
            <a:ext cx="3392424" cy="0"/>
          </a:xfrm>
          <a:prstGeom prst="line">
            <a:avLst/>
          </a:prstGeom>
          <a:ln w="9525">
            <a:solidFill>
              <a:srgbClr val="D4D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72099" y="4892040"/>
            <a:ext cx="3392423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Monitorização da agenda + outreach automático a pacientes em lista de espera ou com seguimento pendente. Adiciona receita; depende de a Fase 1 estar estável.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59" y="3291840"/>
            <a:ext cx="3941063" cy="5303520"/>
          </a:xfrm>
          <a:prstGeom prst="roundRect">
            <a:avLst>
              <a:gd name="adj" fmla="val 3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3566160"/>
            <a:ext cx="3392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AQUISIÇÃO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3840480"/>
            <a:ext cx="33924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Marketing e crescimento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55480" y="4754880"/>
            <a:ext cx="3392423" cy="0"/>
          </a:xfrm>
          <a:prstGeom prst="line">
            <a:avLst/>
          </a:prstGeom>
          <a:ln w="9525">
            <a:solidFill>
              <a:srgbClr val="D4D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55480" y="4892040"/>
            <a:ext cx="3392423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Redes sociais, website, Google Ads. Conversa natural depois de o loop operacional estar provado. Tem o seu próprio shape (Hugo) se evoluirmos para esse caminho.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64539" y="3291840"/>
            <a:ext cx="3941063" cy="5303520"/>
          </a:xfrm>
          <a:prstGeom prst="roundRect">
            <a:avLst>
              <a:gd name="adj" fmla="val 3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38859" y="3566160"/>
            <a:ext cx="3392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PRESENÇA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38859" y="3840480"/>
            <a:ext cx="33924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Google Business + reviews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738859" y="4754880"/>
            <a:ext cx="3392424" cy="0"/>
          </a:xfrm>
          <a:prstGeom prst="line">
            <a:avLst/>
          </a:prstGeom>
          <a:ln w="9525">
            <a:solidFill>
              <a:srgbClr val="D4D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738859" y="4892040"/>
            <a:ext cx="3392423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Capacidade standard do Practice Command. Fica para a Fase 1.5, exceto se for prioridade explícita.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97383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FORA DA FASE 1 · CLÍNICA DA SARA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04 / 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PERGUNTAS EM ABERTO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52728"/>
            <a:ext cx="1691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50" b="0" i="0">
                <a:solidFill>
                  <a:srgbClr val="2D2D2D"/>
                </a:solidFill>
                <a:latin typeface="Georgia"/>
              </a:rPr>
              <a:t>O que precisamos confirmar.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4B5563"/>
                </a:solidFill>
                <a:latin typeface="Calibri"/>
              </a:rPr>
              <a:t>Antes da descoberta formal, ficamos com algumas dúvidas honestas. Algumas afetam o âmbito; outras só a forma como ligamos as ferramentas.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539496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8862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9502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PLATAFORMA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5262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Plataforma de marcações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1206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BUK ou book.pt? Determina o MCP que entregamos e a forma como integramos.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3657600"/>
            <a:ext cx="539496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8862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9502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AUTOMAÇÃO ATUAL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5262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Perímetro exato do que já existe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51206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Que mensagens vão hoje automaticamente, em que canal, com que disparador. Para não pisar o que funciona.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435840" y="3657600"/>
            <a:ext cx="539496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0" y="38862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0" y="39502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PACOTES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10160" y="45262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Catálogo de pacotes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10160" y="51206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Nomes, número de sessões, intervalos recomendados. Base da Prioridade 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6858000"/>
            <a:ext cx="539496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70866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71506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RGPD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7726679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Posição de consentimento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83210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O que a clínica captura hoje para comunicação automática; ajustes para mensagens com 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6858000"/>
            <a:ext cx="539496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70866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71506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VOZ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7726679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Voz da clínica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83210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Existe documento? Se não, derivamos das mensagens já enviadas durante a Fase 2 (Build).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435840" y="6858000"/>
            <a:ext cx="539496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10160" y="70866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24560" y="71506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EQUIPA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710160" y="7726679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DRIs internos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710160" y="83210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Quem na equipa fica responsável pelas ações no momento (registo de sessões, notas).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97383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PERGUNTAS EM ABERTO · CLÍNICA DA SARA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05 /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COMO CHEGAMOS LÁ · 4 FASES · ~30 DIAS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52728"/>
            <a:ext cx="1691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50" b="0" i="0">
                <a:solidFill>
                  <a:srgbClr val="2D2D2D"/>
                </a:solidFill>
                <a:latin typeface="Georgia"/>
              </a:rPr>
              <a:t>Quatro fases. Trinta dias.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4B5563"/>
                </a:solidFill>
                <a:latin typeface="Calibri"/>
              </a:rPr>
              <a:t>A primeira prioridade em produção em cerca de três semanas. As restantes em vagas subsequentes, uma de cada vez, sempre depois da anterior estar estável.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3941063" cy="594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3941063" cy="64008"/>
          </a:xfrm>
          <a:prstGeom prst="rect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160520"/>
            <a:ext cx="3392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6B7280"/>
                </a:solidFill>
                <a:latin typeface="Calibri"/>
              </a:rPr>
              <a:t>DIAS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434840"/>
            <a:ext cx="33924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Descoberta &amp; Desenho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8720" y="5349240"/>
            <a:ext cx="3392424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88720" y="5486400"/>
            <a:ext cx="339242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Workshop com a Sara. Confirmar plataforma de marcações. Mapear a automação atual. Escolher abordagem para notas em papel. Blueprint de implementação.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7779" y="3291840"/>
            <a:ext cx="3941063" cy="594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97779" y="3291840"/>
            <a:ext cx="3941063" cy="64008"/>
          </a:xfrm>
          <a:prstGeom prst="rect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2099" y="35661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099" y="4160520"/>
            <a:ext cx="3392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6B7280"/>
                </a:solidFill>
                <a:latin typeface="Calibri"/>
              </a:rPr>
              <a:t>DIAS 4–10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2099" y="4434840"/>
            <a:ext cx="33924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Construção &amp; Configuração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72099" y="5349240"/>
            <a:ext cx="3392424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72099" y="5486400"/>
            <a:ext cx="339242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MCPs, schema Airtable, scheduled tasks Cowork, prompts de jornada e briefing, derivação da voz da clínica, motor de sugestões em teste.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3291840"/>
            <a:ext cx="3941063" cy="594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59" y="3291840"/>
            <a:ext cx="3941063" cy="64008"/>
          </a:xfrm>
          <a:prstGeom prst="rect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35661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4160520"/>
            <a:ext cx="3392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6B7280"/>
                </a:solidFill>
                <a:latin typeface="Calibri"/>
              </a:rPr>
              <a:t>DIAS 11–14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4434840"/>
            <a:ext cx="33924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Teste &amp; Lançamento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55480" y="5349240"/>
            <a:ext cx="3392423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55480" y="5486400"/>
            <a:ext cx="339242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Testes ponta-a-ponta, formação da equipa, arranque por fases. Prioridade 1 e Prioridade 4 em produção primeiro.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464539" y="3291840"/>
            <a:ext cx="3941063" cy="594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464539" y="3291840"/>
            <a:ext cx="3941063" cy="64008"/>
          </a:xfrm>
          <a:prstGeom prst="rect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38859" y="35661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38859" y="4160520"/>
            <a:ext cx="3392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6B7280"/>
                </a:solidFill>
                <a:latin typeface="Calibri"/>
              </a:rPr>
              <a:t>DIAS 15–30+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38859" y="4434840"/>
            <a:ext cx="33924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Otimização &amp; Expansão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738859" y="5349240"/>
            <a:ext cx="3392424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3738859" y="5486400"/>
            <a:ext cx="3392423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Afinação sobre dados reais. Roll-out da Prioridade 2 e 3 em sequência. Entrada formal em Managed Service.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372600"/>
            <a:ext cx="1645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Georgia"/>
              </a:rPr>
              <a:t>Após o Dia 30 entramos em Managed Service: monitorização, manutenção, revisão mensal e revisão trimestral de capacidades.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97383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COMO CHEGAMOS LÁ · CLÍNICA DA SARA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06 / 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ITERAÇÕES FUTURAS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52728"/>
            <a:ext cx="1691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50" b="0" i="0">
                <a:solidFill>
                  <a:srgbClr val="2D2D2D"/>
                </a:solidFill>
                <a:latin typeface="Georgia"/>
              </a:rPr>
              <a:t>Como crescemos a partir daqui.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4B5563"/>
                </a:solidFill>
                <a:latin typeface="Calibri"/>
              </a:rPr>
              <a:t>A arquitetura permite acrescentar sem refazer. Cada uma destas direções é uma decisão a tomar depois da Fase 1 estar estável e a produzir dados reais.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5394960" cy="5029200"/>
          </a:xfrm>
          <a:prstGeom prst="roundRect">
            <a:avLst>
              <a:gd name="adj" fmla="val 4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8862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48056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Alargar prioridades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5349240"/>
            <a:ext cx="4846320" cy="0"/>
          </a:xfrm>
          <a:prstGeom prst="line">
            <a:avLst/>
          </a:prstGeom>
          <a:ln w="9525">
            <a:solidFill>
              <a:srgbClr val="D4D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88720" y="5486400"/>
            <a:ext cx="48463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Trazer para produção o que ficou parado (notas em papel · no-show recovery · GMB + reviews) à medida que a base permite.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3657600"/>
            <a:ext cx="5394960" cy="5029200"/>
          </a:xfrm>
          <a:prstGeom prst="roundRect">
            <a:avLst>
              <a:gd name="adj" fmla="val 4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8862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48056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Autonomia gradual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5349240"/>
            <a:ext cx="4846320" cy="0"/>
          </a:xfrm>
          <a:prstGeom prst="line">
            <a:avLst/>
          </a:prstGeom>
          <a:ln w="9525">
            <a:solidFill>
              <a:srgbClr val="D4D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49440" y="5486400"/>
            <a:ext cx="48463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Categoria a categoria, mover gates de aprovação humana para verificação automática conforme o histórico mostra fiabilidade. Sara fica para os casos sensíveis.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435840" y="3657600"/>
            <a:ext cx="5394960" cy="5029200"/>
          </a:xfrm>
          <a:prstGeom prst="roundRect">
            <a:avLst>
              <a:gd name="adj" fmla="val 4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0" y="38862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0" y="448056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Capacidades adicionais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710160" y="5349240"/>
            <a:ext cx="4846320" cy="0"/>
          </a:xfrm>
          <a:prstGeom prst="line">
            <a:avLst/>
          </a:prstGeom>
          <a:ln w="9525">
            <a:solidFill>
              <a:srgbClr val="D4D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710160" y="5486400"/>
            <a:ext cx="48463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Marketing &amp; growth (Hugo, se evoluirmos), expansão para múltiplas localizações, integração com mais ferramentas — tudo em cima da mesma base.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97383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ITERAÇÕES FUTURAS · CLÍNICA DA SARA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07 / 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PRÓXIMO PASSO · REVISÃO E SIGN-OFF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52728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A bola está do seu lado.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463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D4D4D8"/>
                </a:solidFill>
                <a:latin typeface="Calibri"/>
              </a:rPr>
              <a:t>Leitura desta proposta, marcação de uma chamada de seguimento, alinhamento conjunto do âmbito a construir. A partir daí, kick-off da Fase 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5330952" cy="3438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5296" y="4151376"/>
            <a:ext cx="4690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01 · LEITURA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4416552"/>
            <a:ext cx="46908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Lê esta proposta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25296" y="4983480"/>
            <a:ext cx="470916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25296" y="5120640"/>
            <a:ext cx="4690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4B5563"/>
                </a:solidFill>
                <a:latin typeface="Calibri"/>
              </a:rPr>
              <a:t>Marca o que faz sentido / o que não faz / o que mudar. Não precisa de ser exaustivo.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3840480"/>
            <a:ext cx="5330952" cy="3438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4151376"/>
            <a:ext cx="4690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02 · CHAMADA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4416552"/>
            <a:ext cx="46908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Marcamos uma chamada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84848" y="4983480"/>
            <a:ext cx="470916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84848" y="5120640"/>
            <a:ext cx="4690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4B5563"/>
                </a:solidFill>
                <a:latin typeface="Calibri"/>
              </a:rPr>
              <a:t>Fecho conjunto do âmbito para a Fase 1, abordagem das dúvidas, alinhamento de condições.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33504" y="3840480"/>
            <a:ext cx="5330952" cy="3438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0" y="4151376"/>
            <a:ext cx="4690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80">
                <a:solidFill>
                  <a:srgbClr val="FF8449"/>
                </a:solidFill>
                <a:latin typeface="Calibri"/>
              </a:rPr>
              <a:t>03 · KICK-OFF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0" y="4416552"/>
            <a:ext cx="46908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Georgia"/>
              </a:rPr>
              <a:t>Arranque da Fase 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344400" y="4983480"/>
            <a:ext cx="470916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344400" y="5120640"/>
            <a:ext cx="4690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4B5563"/>
                </a:solidFill>
                <a:latin typeface="Calibri"/>
              </a:rPr>
              <a:t>Acordo escrito do âmbito + workshop inicial de descoberta com a Sara. Inicia a contagem de 30 dias.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7845552"/>
            <a:ext cx="4114800" cy="868680"/>
          </a:xfrm>
          <a:prstGeom prst="rect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8028431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libri"/>
              </a:rPr>
              <a:t>Marcar chamada 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80284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spc="60">
                <a:solidFill>
                  <a:srgbClr val="A1A1AA"/>
                </a:solidFill>
                <a:latin typeface="Calibri"/>
              </a:rPr>
              <a:t>HELLO@OBLQAI.COM  ·  +351 966 993 506  ·  LISBOA, PORTUGAL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97383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A1A1AA"/>
                </a:solidFill>
                <a:latin typeface="Calibri"/>
              </a:rPr>
              <a:t>PRÓXIMO PASSO · CLÍNICA DA SARA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A1A1AA"/>
                </a:solidFill>
                <a:latin typeface="Calibri"/>
              </a:rPr>
              <a:t>08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