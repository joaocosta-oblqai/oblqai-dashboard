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3502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PRACTICE COMMAND · CODE + COWORK · PROPOSTA · MAIO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000000"/>
                </a:solidFill>
                <a:latin typeface="Georgia"/>
              </a:rPr>
              <a:t>A sua clínica com mais agenda, menos trabalho.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29584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4B5563"/>
                </a:solidFill>
                <a:latin typeface="Calibri"/>
              </a:rPr>
              <a:t>Quatro prioridades. Dois runtimes Claude — Code sempre ligado para o tempo real, Cowork como cockpit da proprietária. Uma camada de inteligência sobre a automação que já tem em funcionamento.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235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6B7280"/>
                </a:solidFill>
                <a:latin typeface="Calibri"/>
              </a:rPr>
              <a:t>CLÍNICA DE ESTÉTICA · PORTUGAL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9308592"/>
            <a:ext cx="11430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23760" y="92354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80">
                <a:solidFill>
                  <a:srgbClr val="FF8449"/>
                </a:solidFill>
                <a:latin typeface="Calibri"/>
              </a:rPr>
              <a:t>8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070080" y="1828799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070080" y="19202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93040" y="1892807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Jornada do paciente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070080" y="2743200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070080" y="281635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93040" y="27889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Sugestões de 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070080" y="3639311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070080" y="3712463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93040" y="3685031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Pacotes digitais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070080" y="4535424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070080" y="4608576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0" y="45811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Briefing pré-consulta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070080" y="5431536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2070080" y="550468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93040" y="5477255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Arquitetura · loop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070080" y="6327648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2070080" y="64008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0" y="637336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Fora da Fase 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070080" y="7223760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2070080" y="7296912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0" y="7269479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Como chegamos lá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070080" y="8119871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2070080" y="81930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6B7280"/>
                </a:solidFill>
                <a:latin typeface="Calibr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93040" y="816559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Georgia"/>
              </a:rPr>
              <a:t>Próximo passo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2070080" y="9015984"/>
            <a:ext cx="5303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O QUE PROPOMOS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000000"/>
                </a:solidFill>
                <a:latin typeface="Georgia"/>
              </a:rPr>
              <a:t>4 prioridades.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57984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Uma camada de inteligência sobre a automação que já tem em funcionamento. Não substitui — amplia.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127248"/>
            <a:ext cx="3941063" cy="594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127248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3832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40">
                <a:solidFill>
                  <a:srgbClr val="6B7280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0332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COMUNICAÇÃO · WHATSAPP ·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977639"/>
            <a:ext cx="33924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Georgia"/>
              </a:rPr>
              <a:t>Jornada do paciente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61772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Georgia"/>
              </a:rPr>
              <a:t>Mensagens personalizadas e contextuais antes e depois de cada consulta.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88720" y="589788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88720" y="6035040"/>
            <a:ext cx="339242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• Vai além dos lembretes básicos já em uso.
• Lê o histórico individual de cada paciente.
• Aprovação humana para mensagens sensíveis.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7779" y="3127248"/>
            <a:ext cx="3941063" cy="594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97779" y="3127248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2099" y="33832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40">
                <a:solidFill>
                  <a:srgbClr val="6B7280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099" y="370332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INTELIGÊNCIA · PADRÕES · 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099" y="3977639"/>
            <a:ext cx="33924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Georgia"/>
              </a:rPr>
              <a:t>Sugestões de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2099" y="461772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Georgia"/>
              </a:rPr>
              <a:t>Próxima ação por paciente, aprendida a partir dos padrões na base.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72099" y="589788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372099" y="6035040"/>
            <a:ext cx="339242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• Reativação, manutenção, cross-sell, upsell.
• Sugestão, justificação e nível de confiança.
• Aprende com cada decisão tua.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9" y="3127248"/>
            <a:ext cx="3941063" cy="594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59" y="3127248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55480" y="33832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40">
                <a:solidFill>
                  <a:srgbClr val="6B7280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70332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PACOTES · CRM · CONFIRMAÇÕES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3977639"/>
            <a:ext cx="33924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Georgia"/>
              </a:rPr>
              <a:t>Pacotes digitais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61772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Georgia"/>
              </a:rPr>
              <a:t>Fim do controlo em papel; sessões registadas e confirmadas.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55480" y="5897880"/>
            <a:ext cx="3392423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55480" y="6035040"/>
            <a:ext cx="339242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• Sessão concluída registada com 1 clique.
• Paciente confirma e sabe quantas faltam.
• Recordatórios proativos antes do fim do pacote.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464539" y="3127248"/>
            <a:ext cx="3941063" cy="594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64539" y="3127248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38859" y="33832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40">
                <a:solidFill>
                  <a:srgbClr val="6B7280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38859" y="3703320"/>
            <a:ext cx="3392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BRIEFING · AGENDA · CONTEXTO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38859" y="3977639"/>
            <a:ext cx="33924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Georgia"/>
              </a:rPr>
              <a:t>Briefing pré-consulta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38859" y="4617720"/>
            <a:ext cx="339242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B5563"/>
                </a:solidFill>
                <a:latin typeface="Georgia"/>
              </a:rPr>
              <a:t>Resumo curto de cada paciente do dia, entregue antes de começar.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738859" y="589788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3738859" y="6035040"/>
            <a:ext cx="3392423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• Histórico, queixas, estado dos pacotes.
• Próxima ação sugerida no fim da consulta.
• Pelo canal que preferires (email, WhatsApp).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O QUE PROPOMOS · CLÍNICA DA SARA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02 / 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ARQUITETURA · LOOP AUTO-MELHORÁVEL · CODE + COWORK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O que fica depois da Fase 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Dois runtimes Claude sobre a mesma base de dados central: Claude Code (motor sempre ligado para tempo-real) + Claude Cowork (cockpit da proprietária). Mesmas tabelas, mesmas ferramentas, mesma voz da clínica.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520440"/>
            <a:ext cx="8001000" cy="137160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520440"/>
            <a:ext cx="73152" cy="1371600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68503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DAEMON ·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13632"/>
            <a:ext cx="7452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Georgia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343400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Sempre ligado no VPS da clínica. Webhooks + cron. Sub-minuto. Owns mensagens automáticas, triagem inbound, tempos críticos (T-24h, T+6h, reativação).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72600" y="3520440"/>
            <a:ext cx="8001000" cy="137160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72600" y="3520440"/>
            <a:ext cx="73152" cy="1371600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368503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COCKPIT · PROPRIETÁRIA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3913632"/>
            <a:ext cx="7452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Georgia"/>
              </a:rPr>
              <a:t>Claude Cowork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4343400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Desktop da Sara. Briefing diário, fila de aprovação, learning loop semanal, conversas ad-hoc, revisões mensais.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SENSOR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Sinal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Code escuta webhooks (WhatsApp, agenda, sessão concluída). Cowork puxa contexto on-demand.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86783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97679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1999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Decisão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Code decide em tempo real por evento. Cowork decide o que mostrar à Sara.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370063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80959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TOOL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Os mesmos MCPs (agenda, WhatsApp, email, Airtable, Ollama) usados por ambos os runtimes.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753344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064240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0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QUALITY GATE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Validação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Code escreve «em espera»; Cowork mostra à Sara; Sara aprova → Code envia.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14136624" y="6428232"/>
            <a:ext cx="246888" cy="228600"/>
          </a:xfrm>
          <a:prstGeom prst="rightArrow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4447519" y="5212080"/>
            <a:ext cx="301752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21839" y="5440680"/>
            <a:ext cx="1371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721839" y="59893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LEARNING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721839" y="6263640"/>
            <a:ext cx="2468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  <a:latin typeface="Georgia"/>
              </a:rPr>
              <a:t>Aprendizagem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721839" y="6903720"/>
            <a:ext cx="2468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B5563"/>
                </a:solidFill>
                <a:latin typeface="Calibri"/>
              </a:rPr>
              <a:t>Cowork revê a semana, gera patches; ambos os runtimes apanham na próxima invocação.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804672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4B5563"/>
                </a:solidFill>
                <a:latin typeface="Georgia"/>
              </a:rPr>
              <a:t>↻  Cada semana, o passo 5 atualiza o passo 2 — Code e Cowork apanham as melhorias da mesma source. O sistema melhora porque é usado.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8641080"/>
            <a:ext cx="5242560" cy="100584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778240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80">
                <a:solidFill>
                  <a:srgbClr val="FF8449"/>
                </a:solidFill>
                <a:latin typeface="Calibri"/>
              </a:rPr>
              <a:t>MEMÓRIA DA CLÍNICA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8961119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Base de dados central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9262872"/>
            <a:ext cx="478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Pacientes, visitas, mensagens, sugestões. Permanente. Code + Cowork escrevem aqui.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22720" y="8641080"/>
            <a:ext cx="5242560" cy="100584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51320" y="8778240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80">
                <a:solidFill>
                  <a:srgbClr val="FF8449"/>
                </a:solidFill>
                <a:latin typeface="Calibri"/>
              </a:rPr>
              <a:t>CAMADA REGENERÁVEL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51320" y="8961119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Software efémero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51320" y="9262872"/>
            <a:ext cx="478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Prompts, skills, regras. Source única partilhada — patches viram-se de uma vez para ambos.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131040" y="8641080"/>
            <a:ext cx="5242560" cy="100584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359640" y="8778240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80">
                <a:solidFill>
                  <a:srgbClr val="FF8449"/>
                </a:solidFill>
                <a:latin typeface="Calibri"/>
              </a:rPr>
              <a:t>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359640" y="8961119"/>
            <a:ext cx="478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Georgia"/>
              </a:rPr>
              <a:t>Interface humano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359640" y="9262872"/>
            <a:ext cx="478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B5563"/>
                </a:solidFill>
                <a:latin typeface="Calibri"/>
              </a:rPr>
              <a:t>Sara como DRI. Equipa como DRIs locais. Só onde a realidade exige.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ARQUITETURA · CLÍNICA DA SARA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03 / 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FORA DA FASE 1 · POR ENQUANTO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O que deixamos para depois.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Não tudo de uma vez. Estes temas ficam à espera de a Fase 1 estar a produzir dados — para depois decidirmos com base no que vimos.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3941063" cy="530352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NOTAS EM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84048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Digitalização das notas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720" y="4754880"/>
            <a:ext cx="3392424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88720" y="4892040"/>
            <a:ext cx="3392423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Três abordagens em cima da mesa (assistente em consulta · scan pós-consulta · captura no momento dos documentos). Escolha durante a descoberta, build numa fase seguinte.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97779" y="3291840"/>
            <a:ext cx="3941063" cy="530352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72099" y="356616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RECEITA PERDIDA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2099" y="384048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Recuperação de no-shows e cancelamentos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72099" y="4754880"/>
            <a:ext cx="3392424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72099" y="4892040"/>
            <a:ext cx="3392423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Monitorização da agenda + outreach automático a pacientes em lista de espera ou com seguimento pendente. Adiciona receita; depende de a Fase 1 estar estável.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59" y="3291840"/>
            <a:ext cx="3941063" cy="530352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56616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AQUISIÇÃO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84048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Marketing e crescimento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555480" y="4754880"/>
            <a:ext cx="3392423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555480" y="4892040"/>
            <a:ext cx="3392423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Redes sociais, website, Google Ads. Conversa natural depois de o loop operacional estar provado. Tem o seu próprio shape (Hugo) se evoluirmos para esse caminho.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64539" y="3291840"/>
            <a:ext cx="3941063" cy="5303520"/>
          </a:xfrm>
          <a:prstGeom prst="roundRect">
            <a:avLst>
              <a:gd name="adj" fmla="val 3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38859" y="356616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PRESENÇA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38859" y="384048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Google Business + reviews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738859" y="4754880"/>
            <a:ext cx="3392424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3738859" y="4892040"/>
            <a:ext cx="3392423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Capacidade standard do Practice Command. Fica para a Fase 1.5, exceto se for prioridade explícita.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FORA DA FASE 1 · CLÍNICA DA SARA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04 / 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PERGUNTAS EM ABERTO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O que precisamos confirmar.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Antes da descoberta formal, ficamos com algumas dúvidas honestas. Algumas afetam o âmbito; outras só a forma como ligamos as ferramentas.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657600"/>
            <a:ext cx="539496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39502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PLATAFORMA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52628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Plataforma de marcações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1206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BUK ou book.pt? Determina o MCP que entregamos e a forma como integramos.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657600"/>
            <a:ext cx="539496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9502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AUTOMAÇÃO ATUAL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52628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Perímetro exato do que já existe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1206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Que mensagens vão hoje automaticamente, em que canal, com que disparador. Para não pisar o que funciona.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3657600"/>
            <a:ext cx="539496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71016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24560" y="39502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PACOTES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0" y="452628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Catálogo de pacotes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0" y="51206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Nomes, número de sessões, intervalos recomendados. Base da Prioridade 3.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6858000"/>
            <a:ext cx="539496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70866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71506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RGPD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7726679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Posição de consentimento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83210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O que a clínica captura hoje para comunicação automática; ajustes para mensagens com IA.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6858000"/>
            <a:ext cx="539496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70866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71506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VOZ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7726679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Voz da clínica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83210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Existe documento? Se não, derivamos das mensagens já enviadas durante a Fase 2 (Build).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435840" y="6858000"/>
            <a:ext cx="539496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10160" y="70866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24560" y="71506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EQUIPA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0" y="7726679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Georgia"/>
              </a:rPr>
              <a:t>DRIs internos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0" y="83210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Quem na equipa fica responsável pelas ações no momento (registo de sessões, notas).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PERGUNTAS EM ABERTO · CLÍNICA DA SARA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05 / 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COMO CHEGAMOS LÁ · 4 FASES · ~30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Quatro fases. Trinta dias.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A primeira prioridade em produção em cerca de três semanas. As restantes em vagas subsequentes, uma de cada vez, sempre depois da anterior estar estável.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Descoberta &amp; Desenho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53492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Workshop com a Sara. Confirmar plataforma de marcações. Mapear a automação atual. Escolher abordagem para notas em papel. Blueprint de implementação.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7779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97779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72099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2099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4–10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099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Construção &amp; Configuração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72099" y="53492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72099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MCPs, schema Airtable, scheduled tasks Cowork, prompts de jornada e briefing, derivação da voz da clínica, motor de sugestões em teste.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11–14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Teste &amp; Lançamento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55480" y="5349240"/>
            <a:ext cx="3392423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55480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Testes ponta-a-ponta, formação da equipa, arranque por fases. Prioridade 1 e Prioridade 4 em produção primeiro.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64539" y="3291840"/>
            <a:ext cx="3941063" cy="5943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464539" y="3291840"/>
            <a:ext cx="3941063" cy="64008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38859" y="356616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FF8449"/>
                </a:solidFill>
                <a:latin typeface="Georgia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38859" y="4160520"/>
            <a:ext cx="33924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6B7280"/>
                </a:solidFill>
                <a:latin typeface="Calibri"/>
              </a:rPr>
              <a:t>DIAS 15–30+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38859" y="4434840"/>
            <a:ext cx="33924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Otimização &amp; Expansão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738859" y="5349240"/>
            <a:ext cx="3392424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3738859" y="5486400"/>
            <a:ext cx="3392423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B5563"/>
                </a:solidFill>
                <a:latin typeface="Calibri"/>
              </a:rPr>
              <a:t>Afinação sobre dados reais. Roll-out da Prioridade 2 e 3 em sequência. Entrada formal em Managed Service.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9372600"/>
            <a:ext cx="1645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B5563"/>
                </a:solidFill>
                <a:latin typeface="Georgia"/>
              </a:rPr>
              <a:t>Após o Dia 30 entramos em Managed Service: monitorização, manutenção, revisão mensal e revisão trimestral de capacidades.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COMO CHEGAMOS LÁ · CLÍNICA DA SARA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06 / 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ITERAÇÕES FUTURAS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91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50" b="0" i="0">
                <a:solidFill>
                  <a:srgbClr val="2D2D2D"/>
                </a:solidFill>
                <a:latin typeface="Georgia"/>
              </a:rPr>
              <a:t>Como crescemos a partir daqui.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554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4B5563"/>
                </a:solidFill>
                <a:latin typeface="Calibri"/>
              </a:rPr>
              <a:t>A arquitetura permite acrescentar sem refazer. Cada uma destas direções é uma decisão a tomar depois da Fase 1 estar estável e a produzir dados reais.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657600"/>
            <a:ext cx="5394960" cy="502920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48056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Alargar prioridades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720" y="5349240"/>
            <a:ext cx="4846320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88720" y="5486400"/>
            <a:ext cx="48463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Trazer para produção o que ficou parado (notas em papel · no-show recovery · GMB + reviews) à medida que a base permite.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657600"/>
            <a:ext cx="5394960" cy="502920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48056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Autonomia gradual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49440" y="5349240"/>
            <a:ext cx="4846320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5486400"/>
            <a:ext cx="48463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Categoria a categoria, mover gates de aprovação humana para verificação automática conforme o histórico mostra fiabilidade. Sara fica para os casos sensíveis.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3657600"/>
            <a:ext cx="5394960" cy="5029200"/>
          </a:xfrm>
          <a:prstGeom prst="roundRect">
            <a:avLst>
              <a:gd name="adj" fmla="val 4000"/>
            </a:avLst>
          </a:prstGeom>
          <a:solidFill>
            <a:srgbClr val="F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710160" y="38862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8449"/>
                </a:solidFill>
                <a:latin typeface="Georgia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0" y="448056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Capacidades adicionais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10160" y="5349240"/>
            <a:ext cx="4846320" cy="0"/>
          </a:xfrm>
          <a:prstGeom prst="line">
            <a:avLst/>
          </a:prstGeom>
          <a:ln w="9525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710160" y="5486400"/>
            <a:ext cx="48463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Marketing &amp; growth (Hugo, se evoluirmos), expansão para múltiplas localizações, integração com mais ferramentas — tudo em cima da mesma base.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6B7280"/>
                </a:solidFill>
                <a:latin typeface="Calibri"/>
              </a:rPr>
              <a:t>ITERAÇÕES FUTURAS · CLÍNICA DA SARA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6B7280"/>
                </a:solidFill>
                <a:latin typeface="Calibri"/>
              </a:rPr>
              <a:t>07 / 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 spc="80">
                <a:solidFill>
                  <a:srgbClr val="FF8449"/>
                </a:solidFill>
                <a:latin typeface="Calibri"/>
              </a:rPr>
              <a:t>PRÓXIMO PASSO · REVISÃO E SIGN-OFF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52728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A bola está do seu lado.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4630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0" i="0">
                <a:solidFill>
                  <a:srgbClr val="D4D4D8"/>
                </a:solidFill>
                <a:latin typeface="Calibri"/>
              </a:rPr>
              <a:t>Leitura desta proposta, marcação de uma chamada de seguimento, alinhamento conjunto do âmbito a construir. A partir daí, kick-off da Fase 1.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840480"/>
            <a:ext cx="5330952" cy="3438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4151376"/>
            <a:ext cx="4690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01 · LEITURA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4416552"/>
            <a:ext cx="4690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Lê esta proposta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25296" y="4983480"/>
            <a:ext cx="4709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25296" y="5120640"/>
            <a:ext cx="4690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0" i="0">
                <a:solidFill>
                  <a:srgbClr val="4B5563"/>
                </a:solidFill>
                <a:latin typeface="Calibri"/>
              </a:rPr>
              <a:t>Marca o que faz sentido / o que não faz / o que mudar. Não precisa de ser exaustivo.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73952" y="3840480"/>
            <a:ext cx="5330952" cy="3438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4151376"/>
            <a:ext cx="4690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02 · CHAMADA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4416552"/>
            <a:ext cx="4690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Marcamos uma chamada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84848" y="4983480"/>
            <a:ext cx="4709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784848" y="5120640"/>
            <a:ext cx="4690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0" i="0">
                <a:solidFill>
                  <a:srgbClr val="4B5563"/>
                </a:solidFill>
                <a:latin typeface="Calibri"/>
              </a:rPr>
              <a:t>Fecho conjunto do âmbito para a Fase 1, abordagem das dúvidas, alinhamento de condições.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033504" y="3840480"/>
            <a:ext cx="5330952" cy="3438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0" y="4151376"/>
            <a:ext cx="4690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 i="0" spc="80">
                <a:solidFill>
                  <a:srgbClr val="FF8449"/>
                </a:solidFill>
                <a:latin typeface="Calibri"/>
              </a:rPr>
              <a:t>03 · KICK-OFF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0" y="4416552"/>
            <a:ext cx="46908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Georgia"/>
              </a:rPr>
              <a:t>Arranque da Fase 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344400" y="4983480"/>
            <a:ext cx="470916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344400" y="5120640"/>
            <a:ext cx="4690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0" i="0">
                <a:solidFill>
                  <a:srgbClr val="4B5563"/>
                </a:solidFill>
                <a:latin typeface="Calibri"/>
              </a:rPr>
              <a:t>Acordo escrito do âmbito + workshop inicial de descoberta com a Sara. Inicia a contagem de 30 dias.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7845552"/>
            <a:ext cx="4114800" cy="868680"/>
          </a:xfrm>
          <a:prstGeom prst="rect">
            <a:avLst/>
          </a:prstGeom>
          <a:solidFill>
            <a:srgbClr val="FF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028431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  <a:latin typeface="Calibri"/>
              </a:rPr>
              <a:t>Marcar chamada 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8028431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spc="60">
                <a:solidFill>
                  <a:srgbClr val="A1A1AA"/>
                </a:solidFill>
                <a:latin typeface="Calibri"/>
              </a:rPr>
              <a:t>HELLO@OBLQAI.COM  ·  +351 966 993 506  ·  LISBOA, PORTUGAL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9738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 spc="40">
                <a:solidFill>
                  <a:srgbClr val="A1A1AA"/>
                </a:solidFill>
                <a:latin typeface="Calibri"/>
              </a:rPr>
              <a:t>PRÓXIMO PASSO · CLÍNICA DA SARA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0" y="973836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75" b="0" i="0" spc="40">
                <a:solidFill>
                  <a:srgbClr val="A1A1AA"/>
                </a:solidFill>
                <a:latin typeface="Calibri"/>
              </a:rPr>
              <a:t>08 / 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0" y="97109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FF8449"/>
                </a:solidFill>
                <a:latin typeface="Georgia"/>
              </a:rPr>
              <a:t>OBLQ ·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