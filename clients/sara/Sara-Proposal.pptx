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3502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PRACTICE COMMAND · CODE + COWORK · PROPOSTA · MAIO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000000"/>
                </a:solidFill>
                <a:latin typeface="Georgia"/>
              </a:rPr>
              <a:t>A sua clínica com mais agenda, menos trabalho.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29584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Oito prioridades em ~45 dias — do paciente à aquisição. Dois runtimes Claude (Code sempre ligado para tempo real, Cowork como cockpit da proprietária), uma camada de inteligência sobre a automação que já tem, mais um site novo e a operação de marketing.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235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6B7280"/>
                </a:solidFill>
                <a:latin typeface="Calibri"/>
              </a:rPr>
              <a:t>CLÍNICA DE ESTÉTICA · PORTUGAL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0" y="9308592"/>
            <a:ext cx="11430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223760" y="92354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8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070080" y="1828799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2070080" y="19202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93040" y="1892807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Jornada do paciente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070080" y="2743200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070080" y="2816351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93040" y="27889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Sugestões de IA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070080" y="3639311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2070080" y="3712463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93040" y="3685031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Pacotes digitais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070080" y="4535424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2070080" y="460857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93040" y="458114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Briefing pré-consulta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070080" y="5431536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2070080" y="550468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93040" y="5477255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Redes sociais &amp; local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070080" y="6327648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2070080" y="64008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93040" y="6373368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Google Ads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2070080" y="7223760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2070080" y="729691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93040" y="7269479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Meta Ads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2070080" y="8119871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2070080" y="81930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93040" y="8165592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Website + manutenção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2070080" y="9015984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O QUE PROPOMOS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52728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000000"/>
                </a:solidFill>
                <a:latin typeface="Georgia"/>
              </a:rPr>
              <a:t>8 prioridades.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57984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B5563"/>
                </a:solidFill>
                <a:latin typeface="Calibri"/>
              </a:rPr>
              <a:t>Do paciente à aquisição. Mesma base de dados central, mesmas ferramentas, mesma voz. Não substitui o que já tem — amplia e cria o que falta.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3941063" cy="3154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971800"/>
            <a:ext cx="3941063" cy="54864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1729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40">
                <a:solidFill>
                  <a:srgbClr val="6B7280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29000"/>
            <a:ext cx="3392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COMUNICAÇÃO · WHATSAPP ·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657600"/>
            <a:ext cx="339242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Jornada do paciente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20624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4B5563"/>
                </a:solidFill>
                <a:latin typeface="Georgia"/>
              </a:rPr>
              <a:t>Mensagens personalizadas e contextuais antes e depois de cada consulta.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88720" y="502920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188720" y="5120640"/>
            <a:ext cx="33924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4B5563"/>
                </a:solidFill>
                <a:latin typeface="Calibri"/>
              </a:rPr>
              <a:t>• Vai além dos lembretes básicos já em uso.
• Lê o histórico individual de cada paciente.
• Aprovação humana para mensagens sensíveis.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97779" y="2971800"/>
            <a:ext cx="3941063" cy="3154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97779" y="2971800"/>
            <a:ext cx="3941063" cy="54864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72099" y="31729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40">
                <a:solidFill>
                  <a:srgbClr val="6B7280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2099" y="3429000"/>
            <a:ext cx="3392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INTELIGÊNCIA · PADRÕES · CRM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099" y="3657600"/>
            <a:ext cx="339242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Sugestões de 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2099" y="420624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4B5563"/>
                </a:solidFill>
                <a:latin typeface="Georgia"/>
              </a:rPr>
              <a:t>Próxima ação por paciente, aprendida a partir dos padrões na base.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72099" y="502920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372099" y="5120640"/>
            <a:ext cx="33924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4B5563"/>
                </a:solidFill>
                <a:latin typeface="Calibri"/>
              </a:rPr>
              <a:t>• Reativação, manutenção, cross-sell, upsell.
• Sugestão, justificação e nível de confiança.
• Aprende com cada decisão tua.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59" y="2971800"/>
            <a:ext cx="3941063" cy="3154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81159" y="2971800"/>
            <a:ext cx="3941063" cy="54864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5480" y="31729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40">
                <a:solidFill>
                  <a:srgbClr val="6B7280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3429000"/>
            <a:ext cx="3392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PACOTES · PACIENTE · CONFIRMAÇÕES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3657600"/>
            <a:ext cx="339242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Pacotes digitais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20624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4B5563"/>
                </a:solidFill>
                <a:latin typeface="Georgia"/>
              </a:rPr>
              <a:t>Substitui o cartão de carimbos: paciente confirma, recebe comprovativo, CRM atualiza.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555480" y="5029200"/>
            <a:ext cx="3392423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55480" y="5120640"/>
            <a:ext cx="33924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4B5563"/>
                </a:solidFill>
                <a:latin typeface="Calibri"/>
              </a:rPr>
              <a:t>• Paciente recebe formulário (SMS, email ou WhatsApp).
• Tica uma caixa, recebe «sessão X de Y» de volta.
• Fallback à equipa se não confirmar em X horas.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464539" y="2971800"/>
            <a:ext cx="3941063" cy="3154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64539" y="2971800"/>
            <a:ext cx="3941063" cy="54864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38859" y="31729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40">
                <a:solidFill>
                  <a:srgbClr val="6B7280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38859" y="3429000"/>
            <a:ext cx="3392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BRIEFING · AGENDA · CONTEXTO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38859" y="3657600"/>
            <a:ext cx="339242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Briefing pré-consulta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38859" y="420624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4B5563"/>
                </a:solidFill>
                <a:latin typeface="Georgia"/>
              </a:rPr>
              <a:t>Resumo curto de cada paciente do dia, entregue antes de começar.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3738859" y="502920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3738859" y="5120640"/>
            <a:ext cx="33924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4B5563"/>
                </a:solidFill>
                <a:latin typeface="Calibri"/>
              </a:rPr>
              <a:t>• Histórico, queixas, estado dos pacotes.
• Próxima ação sugerida no fim da consulta.
• Pelo canal que preferires (email, WhatsApp).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6492240"/>
            <a:ext cx="3941063" cy="3154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6492240"/>
            <a:ext cx="3941063" cy="54864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88720" y="6693407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40">
                <a:solidFill>
                  <a:srgbClr val="6B7280"/>
                </a:solidFill>
                <a:latin typeface="Calibri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88720" y="6949440"/>
            <a:ext cx="3392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CONTEÚDO · REDES SOCIAIS · GMB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7178040"/>
            <a:ext cx="339242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Redes sociais &amp; presença local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7726679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4B5563"/>
                </a:solidFill>
                <a:latin typeface="Georgia"/>
              </a:rPr>
              <a:t>Conteúdo para Instagram, Facebook e Google Business — escrito, agendado e publicado.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88720" y="854964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188720" y="8641080"/>
            <a:ext cx="33924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4B5563"/>
                </a:solidFill>
                <a:latin typeface="Calibri"/>
              </a:rPr>
              <a:t>• Calendário mensal proposto · aprovas e ajustas.
• Posts redigidos no tom da clínica.
• Publicação automática e resposta a reviews.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97779" y="6492240"/>
            <a:ext cx="3941063" cy="3154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97779" y="6492240"/>
            <a:ext cx="3941063" cy="54864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72099" y="6693407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40">
                <a:solidFill>
                  <a:srgbClr val="6B7280"/>
                </a:solidFill>
                <a:latin typeface="Calibri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72099" y="6949440"/>
            <a:ext cx="3392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GOOGLE ADS · PERFORMANCE · TUNING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72099" y="7178040"/>
            <a:ext cx="339242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Google Ads automatizado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72099" y="7726679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4B5563"/>
                </a:solidFill>
                <a:latin typeface="Georgia"/>
              </a:rPr>
              <a:t>Campanhas Google Ads desenhadas, lançadas e afinadas sem dashboard.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372099" y="854964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372099" y="8641080"/>
            <a:ext cx="33924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4B5563"/>
                </a:solidFill>
                <a:latin typeface="Calibri"/>
              </a:rPr>
              <a:t>• Propostas com público, copy e orçamento.
• Aprovas em conversa, sem abrir o painel do Google.
• Tuning diário automático; resumo semanal de performance.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81159" y="6492240"/>
            <a:ext cx="3941063" cy="3154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281159" y="6492240"/>
            <a:ext cx="3941063" cy="54864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55480" y="6693407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40">
                <a:solidFill>
                  <a:srgbClr val="6B7280"/>
                </a:solidFill>
                <a:latin typeface="Calibri"/>
              </a:rPr>
              <a:t>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55480" y="6949440"/>
            <a:ext cx="3392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META ADS · FACEBOOK · INSTAGRAM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55480" y="7178040"/>
            <a:ext cx="339242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Meta Ads automatizado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5480" y="7726679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4B5563"/>
                </a:solidFill>
                <a:latin typeface="Georgia"/>
              </a:rPr>
              <a:t>Anúncios Facebook + Instagram com a mesma lógica do Google Ads.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555480" y="8549640"/>
            <a:ext cx="3392423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555480" y="8641080"/>
            <a:ext cx="33924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4B5563"/>
                </a:solidFill>
                <a:latin typeface="Calibri"/>
              </a:rPr>
              <a:t>• Criativos e copy redigidos no tom da clínica.
• Tuning diário, pausas automáticas em underperformers.
• Performance combinada com Google no relatório semanal.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464539" y="6492240"/>
            <a:ext cx="3941063" cy="3154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3464539" y="6492240"/>
            <a:ext cx="3941063" cy="54864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738859" y="6693407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40">
                <a:solidFill>
                  <a:srgbClr val="6B7280"/>
                </a:solidFill>
                <a:latin typeface="Calibri"/>
              </a:rP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738859" y="6949440"/>
            <a:ext cx="3392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WEBSITE · CMS · COWORK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738859" y="7178040"/>
            <a:ext cx="339242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Website novo + manutenção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738859" y="7726679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4B5563"/>
                </a:solidFill>
                <a:latin typeface="Georgia"/>
              </a:rPr>
              <a:t>Site da clínica construído de raiz e gerido pelo Cowork — sem programador no loop.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3738859" y="854964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3738859" y="8641080"/>
            <a:ext cx="33924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4B5563"/>
                </a:solidFill>
                <a:latin typeface="Calibri"/>
              </a:rPr>
              <a:t>• Build inicial focado em conversão (B2C clínica).
• Atualizações em conversa: «mete uma secção sobre laser».
• Preview de staging antes de qualquer alteração ir para o ar.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O QUE PROPOMOS · CLÍNICA DA SARA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02 / 08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ARQUITETURA · LOOP AUTO-MELHORÁVEL · CODE + COWORK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52728"/>
            <a:ext cx="1691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50" b="0" i="0">
                <a:solidFill>
                  <a:srgbClr val="2D2D2D"/>
                </a:solidFill>
                <a:latin typeface="Georgia"/>
              </a:rPr>
              <a:t>O que fica depois da Fase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4B5563"/>
                </a:solidFill>
                <a:latin typeface="Calibri"/>
              </a:rPr>
              <a:t>Dois runtimes Claude sobre a mesma base de dados central: Claude Code (motor sempre ligado para tempo-real) + Claude Cowork (cockpit da proprietária). Mesmas tabelas, mesmas ferramentas, mesma voz da clínica.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520440"/>
            <a:ext cx="8001000" cy="1371600"/>
          </a:xfrm>
          <a:prstGeom prst="roundRect">
            <a:avLst>
              <a:gd name="adj" fmla="val 3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3520440"/>
            <a:ext cx="73152" cy="1371600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68503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DAEMON ·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13632"/>
            <a:ext cx="7452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Georgia"/>
              </a:rPr>
              <a:t>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343400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Sempre ligado no VPS da clínica. Webhooks + cron. Sub-minuto. Owns mensagens automáticas, triagem inbound, tempos críticos (T-24h, T+6h, reativação).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72600" y="3520440"/>
            <a:ext cx="8001000" cy="1371600"/>
          </a:xfrm>
          <a:prstGeom prst="roundRect">
            <a:avLst>
              <a:gd name="adj" fmla="val 3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372600" y="3520440"/>
            <a:ext cx="73152" cy="1371600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6920" y="368503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COCKPIT · PROPRIETÁRIA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20" y="3913632"/>
            <a:ext cx="7452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Georgia"/>
              </a:rPr>
              <a:t>Claude Cowork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4343400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Desktop da Sara. Briefing diário, fila de aprovação, learning loop semanal, conversas ad-hoc, revisões mensais.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212080"/>
            <a:ext cx="301752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4406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9893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SENSOR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6263640"/>
            <a:ext cx="2468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Georgia"/>
              </a:rPr>
              <a:t>Sinal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6903720"/>
            <a:ext cx="24688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Code escuta webhooks (WhatsApp, agenda, sessão concluída). Cowork puxa contexto on-demand.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86783" y="6428232"/>
            <a:ext cx="246888" cy="228600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297679" y="5212080"/>
            <a:ext cx="301752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1999" y="54406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1999" y="59893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POLICY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6263640"/>
            <a:ext cx="2468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Georgia"/>
              </a:rPr>
              <a:t>Decisão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1999" y="6903720"/>
            <a:ext cx="24688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Code decide em tempo real por evento. Cowork decide o que mostrar à Sara.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370063" y="6428232"/>
            <a:ext cx="246888" cy="228600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80959" y="5212080"/>
            <a:ext cx="301752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54406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59893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TOOL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6263640"/>
            <a:ext cx="2468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Georgia"/>
              </a:rPr>
              <a:t>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6903720"/>
            <a:ext cx="24688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Os mesmos MCPs (agenda, WhatsApp, email, Airtable, Ollama) usados por ambos os runtimes.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0753344" y="6428232"/>
            <a:ext cx="246888" cy="228600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064240" y="5212080"/>
            <a:ext cx="301752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0" y="54406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59893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QUALITY GATE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263640"/>
            <a:ext cx="2468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Georgia"/>
              </a:rPr>
              <a:t>Validação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903720"/>
            <a:ext cx="24688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Code escreve «em espera»; Cowork mostra à Sara; Sara aprova → Code envia.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14136624" y="6428232"/>
            <a:ext cx="246888" cy="228600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4447519" y="5212080"/>
            <a:ext cx="301752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721839" y="54406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721839" y="59893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LEARNING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721839" y="6263640"/>
            <a:ext cx="2468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Georgia"/>
              </a:rPr>
              <a:t>Aprendizagem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721839" y="6903720"/>
            <a:ext cx="24688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Cowork revê a semana, gera patches; ambos os runtimes apanham na próxima invocação.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804672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B5563"/>
                </a:solidFill>
                <a:latin typeface="Georgia"/>
              </a:rPr>
              <a:t>↻  Cada semana, o passo 5 atualiza o passo 2 — Code e Cowork apanham as melhorias da mesma source. O sistema melhora porque é usado.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" y="8641080"/>
            <a:ext cx="5242560" cy="1005840"/>
          </a:xfrm>
          <a:prstGeom prst="roundRect">
            <a:avLst>
              <a:gd name="adj" fmla="val 4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778240"/>
            <a:ext cx="4785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spc="80">
                <a:solidFill>
                  <a:srgbClr val="FF8449"/>
                </a:solidFill>
                <a:latin typeface="Calibri"/>
              </a:rPr>
              <a:t>MEMÓRIA DA CLÍNICA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8961119"/>
            <a:ext cx="4785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Base de dados central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9262872"/>
            <a:ext cx="478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Pacientes, visitas, mensagens, sugestões. Permanente. Code + Cowork escrevem aqui.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22720" y="8641080"/>
            <a:ext cx="5242560" cy="1005840"/>
          </a:xfrm>
          <a:prstGeom prst="roundRect">
            <a:avLst>
              <a:gd name="adj" fmla="val 4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51320" y="8778240"/>
            <a:ext cx="4785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spc="80">
                <a:solidFill>
                  <a:srgbClr val="FF8449"/>
                </a:solidFill>
                <a:latin typeface="Calibri"/>
              </a:rPr>
              <a:t>CAMADA REGENERÁVEL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51320" y="8961119"/>
            <a:ext cx="4785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Software efémero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51320" y="9262872"/>
            <a:ext cx="478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Prompts, skills, regras. Source única partilhada — patches viram-se de uma vez para ambos.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131040" y="8641080"/>
            <a:ext cx="5242560" cy="1005840"/>
          </a:xfrm>
          <a:prstGeom prst="roundRect">
            <a:avLst>
              <a:gd name="adj" fmla="val 4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359640" y="8778240"/>
            <a:ext cx="4785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spc="80">
                <a:solidFill>
                  <a:srgbClr val="FF8449"/>
                </a:solidFill>
                <a:latin typeface="Calibri"/>
              </a:rPr>
              <a:t>EDGE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359640" y="8961119"/>
            <a:ext cx="4785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Interface humano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359640" y="9262872"/>
            <a:ext cx="478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Sara como DRI. Equipa como DRIs locais. Só onde a realidade exige.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ARQUITETURA · CLÍNICA DA SARA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03 / 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FORA DA FASE 1 · POR ENQUANTO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52728"/>
            <a:ext cx="1691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50" b="0" i="0">
                <a:solidFill>
                  <a:srgbClr val="2D2D2D"/>
                </a:solidFill>
                <a:latin typeface="Georgia"/>
              </a:rPr>
              <a:t>O que deixamos para depois.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4B5563"/>
                </a:solidFill>
                <a:latin typeface="Calibri"/>
              </a:rPr>
              <a:t>Não tudo de uma vez. Estes temas ficam à espera de a Fase 1 estar a produzir dados — para depois decidirmos com base no que vimos.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3657600"/>
            <a:ext cx="6858000" cy="5029200"/>
          </a:xfrm>
          <a:prstGeom prst="roundRect">
            <a:avLst>
              <a:gd name="adj" fmla="val 3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393192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NOTAS EM PAPEL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4206240"/>
            <a:ext cx="6126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Georgia"/>
              </a:rPr>
              <a:t>Digitalização das notas em papel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7440" y="5303520"/>
            <a:ext cx="6126479" cy="0"/>
          </a:xfrm>
          <a:prstGeom prst="line">
            <a:avLst/>
          </a:prstGeom>
          <a:ln w="9525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377440" y="5440680"/>
            <a:ext cx="612648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Três abordagens em cima da mesa (assistente em consulta · scan pós-consulta · captura no momento dos documentos). Escolha durante a descoberta da Fase 1; build numa fase seguinte conforme a abordagem escolhida.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3657600"/>
            <a:ext cx="6858000" cy="5029200"/>
          </a:xfrm>
          <a:prstGeom prst="roundRect">
            <a:avLst>
              <a:gd name="adj" fmla="val 3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0" y="393192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RECEITA PERDIDA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4206240"/>
            <a:ext cx="6126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Georgia"/>
              </a:rPr>
              <a:t>Recuperação de no-shows e cancelamentos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784080" y="5303520"/>
            <a:ext cx="6126480" cy="0"/>
          </a:xfrm>
          <a:prstGeom prst="line">
            <a:avLst/>
          </a:prstGeom>
          <a:ln w="9525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784080" y="5440680"/>
            <a:ext cx="612648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Monitorização da agenda + outreach automático a pacientes em lista de espera ou com seguimento pendente. Adiciona receita; entra naturalmente depois da Fase 1 estar estável e com dados reais para afinar os critérios de match.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9144000"/>
            <a:ext cx="1645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Georgia"/>
              </a:rPr>
              <a:t>Nota: Redes sociais, ads e website passaram a estar dentro da Fase 1 (Prioridades 05–08), por pedido explícito. Apenas estes dois temas ficam por agendar.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FORA DA FASE 1 · CLÍNICA DA SARA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04 / 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PERGUNTAS EM ABERTO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52728"/>
            <a:ext cx="1691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50" b="0" i="0">
                <a:solidFill>
                  <a:srgbClr val="2D2D2D"/>
                </a:solidFill>
                <a:latin typeface="Georgia"/>
              </a:rPr>
              <a:t>O que precisamos confirmar.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4B5563"/>
                </a:solidFill>
                <a:latin typeface="Calibri"/>
              </a:rPr>
              <a:t>Antes da descoberta formal, ficamos com algumas dúvidas honestas. Algumas afetam o âmbito; outras só a forma como ligamos as ferramentas.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756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5204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358444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PLATAFORMA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Georgia"/>
              </a:rPr>
              <a:t>Plataforma de marcações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389120"/>
            <a:ext cx="48463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BUK ou book.pt? Determina o MCP que entregamos e a integração.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333756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35204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58444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AUTOMAÇÃO ATUAL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Georgia"/>
              </a:rPr>
              <a:t>Perímetro do que já existe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389120"/>
            <a:ext cx="48463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Que mensagens vão hoje automaticamente. Para não pisar o que funciona.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435840" y="333756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710160" y="35204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0" y="358444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PACOTES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Georgia"/>
              </a:rPr>
              <a:t>Catálogo de pacotes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10160" y="4389120"/>
            <a:ext cx="48463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Nomes, número de sessões, intervalos. Base da Prioridade 3.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5321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571500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77900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RGPD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61722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Georgia"/>
              </a:rPr>
              <a:t>Posição de consentimento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583679"/>
            <a:ext cx="48463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O que a clínica captura hoje para comunicação automática; ajustes para IA.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55321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571500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577900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MARCA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61722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Georgia"/>
              </a:rPr>
              <a:t>Voz + identidade visual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6583679"/>
            <a:ext cx="48463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Existe brand kit (logo, cores, fotos, tom)? Necessário para P5, P6, P7 e P8.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435840" y="55321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10160" y="571500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441680" y="577900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WEBSITE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10160" y="61722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Georgia"/>
              </a:rPr>
              <a:t>Domínio e hosting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10160" y="6583679"/>
            <a:ext cx="48463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Domínio atual, hosting, CMS preferido. Decisão de stack para o site novo da Prioridade 8.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7726679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88720" y="790955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8449"/>
                </a:solidFill>
                <a:latin typeface="Georgia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7973567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ORÇAMENTO 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836675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Georgia"/>
              </a:rPr>
              <a:t>Verba mensal Google + Meta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8720" y="8778240"/>
            <a:ext cx="48463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Verba inicial por canal. Define escala dos testes em P6 e P7 e baseline de tuning automático.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0" y="7726679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49440" y="790955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8449"/>
                </a:solidFill>
                <a:latin typeface="Georgia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0" y="7973567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EQUIPA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836675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Georgia"/>
              </a:rPr>
              <a:t>DRIs internos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8778240"/>
            <a:ext cx="48463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Quem na equipa fica responsável pelas ações no momento (sessões, aprovações).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435840" y="7726679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710160" y="790955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8449"/>
                </a:solidFill>
                <a:latin typeface="Georgia"/>
              </a:rPr>
              <a:t>09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441680" y="7973567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80">
                <a:solidFill>
                  <a:srgbClr val="FF8449"/>
                </a:solidFill>
                <a:latin typeface="Calibri"/>
              </a:rPr>
              <a:t>REDES SOCIAIS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710160" y="836675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Georgia"/>
              </a:rPr>
              <a:t>Contas Instagram, Facebook, GMB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10160" y="8778240"/>
            <a:ext cx="48463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Contas existentes ou criar do zero. Acessos administrativos necessários para P5.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PERGUNTAS EM ABERTO · CLÍNICA DA SARA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05 / 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COMO CHEGAMOS LÁ · 4 FASES · ~45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52728"/>
            <a:ext cx="1691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50" b="0" i="0">
                <a:solidFill>
                  <a:srgbClr val="2D2D2D"/>
                </a:solidFill>
                <a:latin typeface="Georgia"/>
              </a:rPr>
              <a:t>Quatro fases. Quarenta e cinco dias.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4B5563"/>
                </a:solidFill>
                <a:latin typeface="Calibri"/>
              </a:rPr>
              <a:t>Patient-ops e marketing &amp; website em paralelo. Prioridade 1 e Prioridade 4 em produção até ao Dia 14; site novo e redes sociais até ao Dia 30; ads em produção até ao Dia 40.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3941063" cy="5943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3291840"/>
            <a:ext cx="3941063" cy="64008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56616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160520"/>
            <a:ext cx="33924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6B7280"/>
                </a:solidFill>
                <a:latin typeface="Calibri"/>
              </a:rPr>
              <a:t>DIAS 1–5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43484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Descoberta &amp; Desenho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88720" y="534924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88720" y="5486400"/>
            <a:ext cx="339242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Workshop alargado: patient-ops + brand + website + ads. Confirmar plataforma de marcações, domínio, contas Meta/Google, brand kit ou plano de derivação. Blueprint de implementação.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7779" y="3291840"/>
            <a:ext cx="3941063" cy="5943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97779" y="3291840"/>
            <a:ext cx="3941063" cy="64008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72099" y="356616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099" y="4160520"/>
            <a:ext cx="33924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6B7280"/>
                </a:solidFill>
                <a:latin typeface="Calibri"/>
              </a:rPr>
              <a:t>DIAS 6–25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2099" y="443484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Construção &amp; Configuração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72099" y="534924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372099" y="5486400"/>
            <a:ext cx="339242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MCPs (booking, WhatsApp, Meta, Google Ads, CMS), schema Airtable, daemon Code no VPS, scheduled tasks Cowork, prompts P1–P8, voz da clínica, site novo em build paralelo.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59" y="3291840"/>
            <a:ext cx="3941063" cy="5943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81159" y="3291840"/>
            <a:ext cx="3941063" cy="64008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5480" y="356616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4160520"/>
            <a:ext cx="33924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6B7280"/>
                </a:solidFill>
                <a:latin typeface="Calibri"/>
              </a:rPr>
              <a:t>DIAS 26–32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443484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Teste &amp; Lançamento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55480" y="5349240"/>
            <a:ext cx="3392423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555480" y="5486400"/>
            <a:ext cx="339242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Testes ponta-a-ponta de cada prioridade. Formação da equipa. Soft launch: P1 + P4 (patient-ops) + site novo no ar. P5 (social) live até Dia 30.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64539" y="3291840"/>
            <a:ext cx="3941063" cy="5943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464539" y="3291840"/>
            <a:ext cx="3941063" cy="64008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38859" y="356616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38859" y="4160520"/>
            <a:ext cx="33924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6B7280"/>
                </a:solidFill>
                <a:latin typeface="Calibri"/>
              </a:rPr>
              <a:t>DIAS 33–45+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38859" y="443484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Otimização &amp; Expansão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3738859" y="534924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3738859" y="5486400"/>
            <a:ext cx="339242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Roll-out de P2 + P3 patient-ops. P6 + P7 ads em produção até Dia 40. Afinação sobre dados reais. Entrada formal em Managed Service após Dia 45.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9372600"/>
            <a:ext cx="1645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Georgia"/>
              </a:rPr>
              <a:t>Após o Dia 45 entramos em Managed Service: monitorização, manutenção, revisão mensal e revisão trimestral de capacidades. Cronograma ambicioso — assumido.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COMO CHEGAMOS LÁ · CLÍNICA DA SARA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06 / 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ITERAÇÕES FUTURAS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52728"/>
            <a:ext cx="1691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50" b="0" i="0">
                <a:solidFill>
                  <a:srgbClr val="2D2D2D"/>
                </a:solidFill>
                <a:latin typeface="Georgia"/>
              </a:rPr>
              <a:t>Como crescemos a partir daqui.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4B5563"/>
                </a:solidFill>
                <a:latin typeface="Calibri"/>
              </a:rPr>
              <a:t>A arquitetura permite acrescentar sem refazer. Cada uma destas direções é uma decisão a tomar depois da Fase 1 estar estável e a produzir dados reais.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657600"/>
            <a:ext cx="3941063" cy="5029200"/>
          </a:xfrm>
          <a:prstGeom prst="roundRect">
            <a:avLst>
              <a:gd name="adj" fmla="val 4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8862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480560"/>
            <a:ext cx="339242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Georgia"/>
              </a:rPr>
              <a:t>Portal do paciente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88720" y="5349240"/>
            <a:ext cx="3392424" cy="0"/>
          </a:xfrm>
          <a:prstGeom prst="line">
            <a:avLst/>
          </a:prstGeom>
          <a:ln w="9525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88720" y="5486400"/>
            <a:ext cx="3392423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Área autenticada onde o paciente vê o estado dos pacotes, histórico de visitas, próximas sessões, e gere consentimentos. Administrada pelo Cowork — sem CMS para gerir.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97779" y="3657600"/>
            <a:ext cx="3941063" cy="5029200"/>
          </a:xfrm>
          <a:prstGeom prst="roundRect">
            <a:avLst>
              <a:gd name="adj" fmla="val 4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72099" y="38862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2099" y="4480560"/>
            <a:ext cx="339242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Georgia"/>
              </a:rPr>
              <a:t>Alargar prioridades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72099" y="5349240"/>
            <a:ext cx="3392424" cy="0"/>
          </a:xfrm>
          <a:prstGeom prst="line">
            <a:avLst/>
          </a:prstGeom>
          <a:ln w="9525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72099" y="5486400"/>
            <a:ext cx="3392423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Trazer para produção o que ficou parado (notas em papel · no-show recovery) à medida que a base permite.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59" y="3657600"/>
            <a:ext cx="3941063" cy="5029200"/>
          </a:xfrm>
          <a:prstGeom prst="roundRect">
            <a:avLst>
              <a:gd name="adj" fmla="val 4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38862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4480560"/>
            <a:ext cx="339242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Georgia"/>
              </a:rPr>
              <a:t>Autonomia gradual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555480" y="5349240"/>
            <a:ext cx="3392423" cy="0"/>
          </a:xfrm>
          <a:prstGeom prst="line">
            <a:avLst/>
          </a:prstGeom>
          <a:ln w="9525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555480" y="5486400"/>
            <a:ext cx="3392423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Categoria a categoria, mover gates de aprovação humana para verificação automática conforme o histórico mostra fiabilidade. Sara fica para os casos sensíveis.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64539" y="3657600"/>
            <a:ext cx="3941063" cy="5029200"/>
          </a:xfrm>
          <a:prstGeom prst="roundRect">
            <a:avLst>
              <a:gd name="adj" fmla="val 4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38859" y="38862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38859" y="4480560"/>
            <a:ext cx="339242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Georgia"/>
              </a:rPr>
              <a:t>Capacidades adicionais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3738859" y="5349240"/>
            <a:ext cx="3392424" cy="0"/>
          </a:xfrm>
          <a:prstGeom prst="line">
            <a:avLst/>
          </a:prstGeom>
          <a:ln w="9525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3738859" y="5486400"/>
            <a:ext cx="3392423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Expansão para múltiplas localizações, integração com mais ferramentas, autopilot de marketing (Hugo) — tudo em cima da mesma base.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ITERAÇÕES FUTURAS · CLÍNICA DA SARA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07 / 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PRÓXIMO PASSO · REVISÃO E SIGN-OFF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52728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Georgia"/>
              </a:rPr>
              <a:t>A bola está do seu lado.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463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D4D4D8"/>
                </a:solidFill>
                <a:latin typeface="Calibri"/>
              </a:rPr>
              <a:t>Leitura desta proposta, marcação de uma chamada de seguimento, alinhamento conjunto do âmbito a construir. A partir daí, kick-off da Fase 1.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840480"/>
            <a:ext cx="5330952" cy="34381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4151376"/>
            <a:ext cx="4690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01 · LEITURA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4416552"/>
            <a:ext cx="46908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Lê esta proposta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25296" y="4983480"/>
            <a:ext cx="470916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25296" y="5120640"/>
            <a:ext cx="4690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0" i="0">
                <a:solidFill>
                  <a:srgbClr val="4B5563"/>
                </a:solidFill>
                <a:latin typeface="Calibri"/>
              </a:rPr>
              <a:t>Marca o que faz sentido / o que não faz / o que mudar. Não precisa de ser exaustivo.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73952" y="3840480"/>
            <a:ext cx="5330952" cy="34381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4151376"/>
            <a:ext cx="4690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02 · CHAMADA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4416552"/>
            <a:ext cx="46908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Marcamos uma chamada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84848" y="4983480"/>
            <a:ext cx="470916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784848" y="5120640"/>
            <a:ext cx="4690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0" i="0">
                <a:solidFill>
                  <a:srgbClr val="4B5563"/>
                </a:solidFill>
                <a:latin typeface="Calibri"/>
              </a:rPr>
              <a:t>Fecho conjunto do âmbito para a Fase 1, abordagem das dúvidas, alinhamento de condições.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033504" y="3840480"/>
            <a:ext cx="5330952" cy="34381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0" y="4151376"/>
            <a:ext cx="4690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03 · KICK-OFF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0" y="4416552"/>
            <a:ext cx="46908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Arranque da Fase 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344400" y="4983480"/>
            <a:ext cx="470916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2344400" y="5120640"/>
            <a:ext cx="4690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0" i="0">
                <a:solidFill>
                  <a:srgbClr val="4B5563"/>
                </a:solidFill>
                <a:latin typeface="Calibri"/>
              </a:rPr>
              <a:t>Acordo escrito do âmbito + workshop inicial de descoberta com a Sara. Inicia a contagem de 30 dias.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7845552"/>
            <a:ext cx="4114800" cy="868680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8028431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  <a:latin typeface="Calibri"/>
              </a:rPr>
              <a:t>Marcar chamada 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80284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spc="60">
                <a:solidFill>
                  <a:srgbClr val="A1A1AA"/>
                </a:solidFill>
                <a:latin typeface="Calibri"/>
              </a:rPr>
              <a:t>HELLO@OBLQAI.COM  ·  +351 966 993 506  ·  LISBOA, PORTUGAL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A1A1AA"/>
                </a:solidFill>
                <a:latin typeface="Calibri"/>
              </a:rPr>
              <a:t>PRÓXIMO PASSO · CLÍNICA DA SARA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A1A1AA"/>
                </a:solidFill>
                <a:latin typeface="Calibri"/>
              </a:rPr>
              <a:t>08 / 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