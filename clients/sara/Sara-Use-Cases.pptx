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3502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PRACTICE COMMAND · CODE + COWORK · CASOS DE USO · MAIO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1887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000000"/>
                </a:solidFill>
                <a:latin typeface="Georgia"/>
              </a:rPr>
              <a:t>Como funciona, na prática.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29584"/>
            <a:ext cx="11887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4B5563"/>
                </a:solidFill>
                <a:latin typeface="Calibri"/>
              </a:rPr>
              <a:t>Doze process flows sobre um único sistema operacional — do paciente à aquisição. Cada fluxo corre num dos dois runtimes Claude: Code (sempre ligado, tempo real) ou Cowork (cockpit da proprietária). Mesma base de dados, mesmas ferramentas, mesma voz da clínica.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2984480" y="1645920"/>
            <a:ext cx="43891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2984480" y="1737360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0" y="1719072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Georgia"/>
              </a:rPr>
              <a:t>Mensagem pré-consulta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984480" y="2276856"/>
            <a:ext cx="43891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984480" y="2359152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0" y="2340864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Georgia"/>
              </a:rPr>
              <a:t>Seguimento pós-tratamento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0" y="2898648"/>
            <a:ext cx="43891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2984480" y="2980944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0" y="2962656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Georgia"/>
              </a:rPr>
              <a:t>Reativação inteligente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984480" y="3520440"/>
            <a:ext cx="43891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984480" y="3602736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0" y="3584448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Georgia"/>
              </a:rPr>
              <a:t>Sugestão de IA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984480" y="4142232"/>
            <a:ext cx="43891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2984480" y="422452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0" y="420624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Georgia"/>
              </a:rPr>
              <a:t>Pacote ponta-a-ponta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2984480" y="4764024"/>
            <a:ext cx="43891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2984480" y="4846320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0" y="4828032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Georgia"/>
              </a:rPr>
              <a:t>Briefing diário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2984480" y="5385816"/>
            <a:ext cx="43891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2984480" y="5468112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0" y="5449824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Georgia"/>
              </a:rPr>
              <a:t>Triagem inbound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2984480" y="6007607"/>
            <a:ext cx="43891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2984480" y="6089904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0" y="6071616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Georgia"/>
              </a:rPr>
              <a:t>Escalação à Sara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2984480" y="6629400"/>
            <a:ext cx="43891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2984480" y="6711696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0" y="6693408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Georgia"/>
              </a:rPr>
              <a:t>Learning loop semanal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2984480" y="7251192"/>
            <a:ext cx="43891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2984480" y="73334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0" y="731520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Georgia"/>
              </a:rPr>
              <a:t>Conteúdo &amp; redes sociais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2984480" y="7872984"/>
            <a:ext cx="43891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2984480" y="7955280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0" y="7936992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Georgia"/>
              </a:rPr>
              <a:t>Anúncios Google + Meta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2984480" y="8494776"/>
            <a:ext cx="43891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2984480" y="8577072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0" y="8558784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Georgia"/>
              </a:rPr>
              <a:t>Website novo + manutenção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2984480" y="9116568"/>
            <a:ext cx="43891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14400" y="92354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6B7280"/>
                </a:solidFill>
                <a:latin typeface="Calibri"/>
              </a:rPr>
              <a:t>CLÍNICA DE ESTÉTICA · PORTUGAL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0" y="9308592"/>
            <a:ext cx="114300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138160" y="923544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14 SLIDES · 12 FLUXOS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PROCESS FLOW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2D2D2D"/>
                </a:solidFill>
                <a:latin typeface="Georgia"/>
              </a:rPr>
              <a:t>Como uma mensagem pré-consulta certa chega ao paciente.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4B5563"/>
                </a:solidFill>
                <a:latin typeface="Georgia"/>
              </a:rPr>
              <a:t>A camada de comunicação inteligente em ação — desde o gatilho da agenda até ao envio. Code daemon corre 24/7 e despoleta com precisão de minutos.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0" y="914400"/>
            <a:ext cx="3200400" cy="45720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0" y="9875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 spc="80">
                <a:solidFill>
                  <a:srgbClr val="FFFFFF"/>
                </a:solidFill>
                <a:latin typeface="Calibri"/>
              </a:rPr>
              <a:t>RUNTIME · CLAUDE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Disparador na agenda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7899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7899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T-24h antes da consulta. Claude vê a marcação e despoleta o fluxo.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TRIGGER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6499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2102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363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363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Lê o contexto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1363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91363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Histórico, última visita, estado do pacote, queixas, canal preferido — tudo da base de dados da clínica.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READ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19963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5566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4827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827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Redige a mensagem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74827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4827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Personalizada, no tom da clínica. Não é template — referencia o caso real do paciente.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DRAFT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03427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9030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8291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291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Quality gate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8291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58291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Rotina → envio direto. Sensível (queixa anterior, primeira consulta) → fila para a Sara.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291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GATE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1186891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12494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41755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41755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Envia pelo canal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241755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241755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WhatsApp · SMS · email, conforme a preferência registada do paciente.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41755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SEND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1470355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4959584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252192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52192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Regista no sistema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5252192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5252192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Mensagem + contexto + resposta esperada. Vai alimentar o ciclo de aprendizagem semanal.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52192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LOG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9144000"/>
            <a:ext cx="1645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Georgia"/>
              </a:rPr>
              <a:t>Mesma camada serve todos os momentos da jornada — só o disparador e o contexto mudam.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973836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PROCESS FLOW · 01 · CLÍNICA DA SARA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02 / 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PROCESS FLOW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2D2D2D"/>
                </a:solidFill>
                <a:latin typeface="Georgia"/>
              </a:rPr>
              <a:t>Como o seguimento pós-tratamento acontece sem ser spam.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4B5563"/>
                </a:solidFill>
                <a:latin typeface="Georgia"/>
              </a:rPr>
              <a:t>Check-in depois de cada sessão. Code recebe o evento, lê o contexto real e redige no momento certo (T+6h, T+24h) — não num bucket de 15 minutos.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0" y="914400"/>
            <a:ext cx="3200400" cy="45720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0" y="9875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 spc="80">
                <a:solidFill>
                  <a:srgbClr val="FFFFFF"/>
                </a:solidFill>
                <a:latin typeface="Calibri"/>
              </a:rPr>
              <a:t>RUNTIME · CLAUDE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Sessão concluída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7899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7899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Equipa marca como feita no CRM, app ou por WhatsApp ao Claude. Disparador X horas depois.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TRIGGER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6499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2102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363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363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Lê o contexto da sessão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1363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91363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Tipo de tratamento, parâmetros usados, notas em consulta, queixas reportadas no momento.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READ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19963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5566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4827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827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Redige o follow-up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74827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4827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Tom adaptado ao tratamento e ao historial deste paciente. Pergunta o que importa.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DRAFT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03427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9030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8291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291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Sara aprova se sensível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8291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58291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Default: mensagens de rotina saem direto. Casos com queixa ou risco passam pela Sara.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291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GATE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1186891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12494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41755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41755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Envia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241755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241755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Paciente sente-se acompanhado. A clínica capta complicações cedo.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41755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SEND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1470355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4959584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252192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52192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Resposta entra no sistema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5252192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5252192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Se o paciente responde, entra no fluxo de triagem (Process Flow 07).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52192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LOG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9144000"/>
            <a:ext cx="1645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Georgia"/>
              </a:rPr>
              <a:t>O seguimento não depende da Sara se lembrar — depende de o sistema lembrar por ela.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973836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PROCESS FLOW · 02 · CLÍNICA DA SARA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03 / 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PROCESS FLOW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2D2D2D"/>
                </a:solidFill>
                <a:latin typeface="Georgia"/>
              </a:rPr>
              <a:t>Como um paciente inativo recebe um nudge inteligente.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4B5563"/>
                </a:solidFill>
                <a:latin typeface="Georgia"/>
              </a:rPr>
              <a:t>Reativação sistemática — alimentada pelo motor de sugestões (P2). Code dispara quando o threshold cruza; Cowork mostra a mensagem à Sara para aprovação antes de sair.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0" y="914400"/>
            <a:ext cx="3200400" cy="45720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0" y="9875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 spc="80">
                <a:solidFill>
                  <a:srgbClr val="FFFFFF"/>
                </a:solidFill>
                <a:latin typeface="Calibri"/>
              </a:rPr>
              <a:t>RUNTIME · CODE + COWORK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Threshold de inatividade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7899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7899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Y meses sem visita. O sistema assinala automaticamente — sem precisar que ninguém se lembre.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TRIGGER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6499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2102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363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363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Sugestão é puxada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1363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91363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Do motor da Prioridade 2: pacientes com este perfil reativam-se Z% com este tipo de mensagem.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SUGGEST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19963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5566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4827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827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Redige a reativação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74827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4827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Mensagem personalizada com oferta concreta e próximo passo claro. Não é 'sentimos a sua falta'.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DRAFT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03427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9030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8291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291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Sara aprova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8291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58291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Mensagens de reativação passam SEMPRE por aprovação humana. Tom mais sensível.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291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GATE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1186891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12494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41755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41755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Envia + segue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241755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241755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Abertura, resposta, marcação. Tudo logged à conversação.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41755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SEND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1470355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4959584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252192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52192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Resultado afina o motor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5252192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5252192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Reativou? Ignorou? Pediu para parar? Feedback entra no learning loop.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52192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LEARN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9144000"/>
            <a:ext cx="1645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Georgia"/>
              </a:rPr>
              <a:t>Cada paciente reativado torna a sugestão seguinte melhor — o motor aprende com a Sara e com a base.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973836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PROCESS FLOW · 03 · CLÍNICA DA SARA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04 / 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PROCESS FLOW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2D2D2D"/>
                </a:solidFill>
                <a:latin typeface="Georgia"/>
              </a:rPr>
              <a:t>Como uma sugestão de IA é gerada e usada.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4B5563"/>
                </a:solidFill>
                <a:latin typeface="Georgia"/>
              </a:rPr>
              <a:t>Code corre o motor por evento (sessão termina, pacote acaba) para surface em tempo real. Cowork corre a ranking pass diária e semanal para o briefing e dashboard.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0" y="914400"/>
            <a:ext cx="3200400" cy="45720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0" y="9875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 spc="80">
                <a:solidFill>
                  <a:srgbClr val="FFFFFF"/>
                </a:solidFill>
                <a:latin typeface="Calibri"/>
              </a:rPr>
              <a:t>RUNTIME · CODE + COWORK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Disparador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7899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7899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Daily learning pass ou evento específico (consulta concluída, pacote terminado).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TRIGGER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6499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2102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363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363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Lê o histórico individual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1363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91363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Histórico completo do paciente: tratamentos, notas, mensagens, queixas, pacotes.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READ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19963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5566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4827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827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Cruza com padrões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74827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4827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Compara com padrões agregados — espaçamentos típicos, taxas de conversão por mensagem, etc.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MATCH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03427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9030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8291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291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Produz a sugestão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8291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58291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Ação recomendada + justificação curta apoiada em dados + nível de confiança.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291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OUTPUT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1186891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12494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41755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41755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Surface em 3 sítios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241755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241755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Briefing diário, dentro das mensagens automáticas (quando faz sentido), dashboard semanal.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41755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SHOW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1470355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4959584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252192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52192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Sara decide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5252192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5252192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Aceitar · modificar · recusar. Decisão entra no learning loop e afina sugestões futuras.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52192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DECIDE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9144000"/>
            <a:ext cx="1645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Georgia"/>
              </a:rPr>
              <a:t>A IA não decide pela Sara — propõe a próxima ação. A Sara fica com o controlo, não com o trabalho.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973836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PROCESS FLOW · 04 · CLÍNICA DA SARA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05 / 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PROCESS FLOW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2D2D2D"/>
                </a:solidFill>
                <a:latin typeface="Georgia"/>
              </a:rPr>
              <a:t>Como um pacote é confirmado pelo paciente, sessão a sessão.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4B5563"/>
                </a:solidFill>
                <a:latin typeface="Georgia"/>
              </a:rPr>
              <a:t>Substitui o cartão de carimbos. Paciente confirma a presença num formulário simples; o CRM atualiza sozinho. Equipa só intervém se o paciente não confirmar — fallback, não fluxo principal.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0" y="914400"/>
            <a:ext cx="3200400" cy="45720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0" y="9875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 spc="80">
                <a:solidFill>
                  <a:srgbClr val="FFFFFF"/>
                </a:solidFill>
                <a:latin typeface="Calibri"/>
              </a:rPr>
              <a:t>RUNTIME · CLAUDE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Consulta termina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7899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7899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Plataforma de marcações regista a consulta como concluída. Code daemon recebe o evento em segundos.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TRIGGER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6499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2102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363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363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Envia formulário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1363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91363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Paciente recebe um link curto (SMS, email ou WhatsApp conforme preferência): «Confirma a sessão 2 de 4 de hoje?»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SEND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19963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5566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4827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827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Paciente tica a caixa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74827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4827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Formulário com uma pergunta e um botão. Submete em segundos — equivalente digital do carimbo no cartão.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CONFIRM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03427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9030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8291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291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Comprovativo de volta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8291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58291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«Sessão 2 de 4 confirmada. Próxima recomendada entre X e Y. Faltam 2 sessões.» Fica no histórico do paciente.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291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RECEIPT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1186891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12494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41755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41755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CRM atualiza sozinho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241755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241755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Contador do pacote sobe. Code regista a confirmação na Brain com timestamp e canal. Aciona o próximo recordatório.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41755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UPDATE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1470355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4959584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252192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52192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Fallback à equipa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5252192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5252192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Se em X horas o paciente não confirmou, Cowork mostra à equipa uma fila de «por confirmar» — 1 clique para marcar manualmente.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52192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FALLBACK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9144000"/>
            <a:ext cx="1645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Georgia"/>
              </a:rPr>
              <a:t>Mantém o ritual do cartão (paciente confirma, recebe comprovativo), mas em digital. A equipa só intervém para os pacientes que não usam o canal.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973836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PROCESS FLOW · 05 · CLÍNICA DA SARA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06 / 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PROCESS FLOW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2D2D2D"/>
                </a:solidFill>
                <a:latin typeface="Georgia"/>
              </a:rPr>
              <a:t>Como o briefing pré-consulta chega à Sara todos os dias.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4B5563"/>
                </a:solidFill>
                <a:latin typeface="Georgia"/>
              </a:rPr>
              <a:t>Owner-facing recurring work — sweet spot do Cowork. Scheduled task compila o briefing antes do dia começar e entrega-o pelo canal que a Sara preferir.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0" y="914400"/>
            <a:ext cx="3200400" cy="45720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0" y="9875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 spc="80">
                <a:solidFill>
                  <a:srgbClr val="FFFFFF"/>
                </a:solidFill>
                <a:latin typeface="Calibri"/>
              </a:rPr>
              <a:t>RUNTIME · CLAUDE COWORK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Disparador agendado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7899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7899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Hora fixa, todos os dias úteis. Manhã (8h00) ou véspera (20h00) — configurável.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TRIGGER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6499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2102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363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363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Lê a agenda do dia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1363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91363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Claude puxa todas as consultas da plataforma de marcações (BUK ou book.pt).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READ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19963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5566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4827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827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Compila por paciente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74827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4827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Motivo da consulta, historial, pacote, queixas anteriores, próxima ação sugerida.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COMPOSE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03427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9030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8291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291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Monta o briefing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8291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58291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Cartões agrupados por hora. Ranqueados por urgência ou valor potencial.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291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ASSEMBLE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1186891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12494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41755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41755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Entrega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241755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241755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Email, WhatsApp pessoal ou app Cowork no telemóvel — à escolha da Sara.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41755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DELIVER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1470355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4959584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252192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52192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Conversa de aprofundamento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5252192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5252192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Sara pergunta ao Claude: «conta-me mais sobre a Maria», «que tratamentos propor à Joana hoje».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52192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DIVE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9144000"/>
            <a:ext cx="1645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Georgia"/>
              </a:rPr>
              <a:t>Entrar em consulta a saber tudo deixa de ser sorte — passa a ser o estado por defeito.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973836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PROCESS FLOW · 06 · CLÍNICA DA SARA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07 / 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PROCESS FLOW ·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2D2D2D"/>
                </a:solidFill>
                <a:latin typeface="Georgia"/>
              </a:rPr>
              <a:t>Como uma mensagem do paciente é triada e respondida.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4B5563"/>
                </a:solidFill>
                <a:latin typeface="Georgia"/>
              </a:rPr>
              <a:t>Quando o paciente responde — WhatsApp, SMS, email — o Code daemon recebe o evento em segundos, classifica, e ou responde direto ou põe a Sara no loop via fila de aprovação no Cowork.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0" y="914400"/>
            <a:ext cx="3200400" cy="45720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0" y="9875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 spc="80">
                <a:solidFill>
                  <a:srgbClr val="FFFFFF"/>
                </a:solidFill>
                <a:latin typeface="Calibri"/>
              </a:rPr>
              <a:t>RUNTIME · CLAUDE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Mensagem chega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7899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7899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Por qualquer canal (WhatsApp Business, SMS, email). Captada via MCP ou bridge n8n.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INBOUND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6499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2102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363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363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Cowork classifica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1363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91363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Confirmação · pergunta · queixa · pedido de preço · pedido de remarcação · spam.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CLASSIFY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19963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5566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4827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827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Rota por categoria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74827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4827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Baixo risco → auto-reply. Sensível → fila Sara. Clínico/legal → escalação (Flow 08).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ROUTE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03427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9030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8291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291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Redige a resposta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8291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58291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No tom da clínica, com o contexto completo do paciente. Pronta para 1-click approve.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291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DRAFT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1186891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12494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41755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41755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Sara revê se sinalizada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241755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241755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Mensagens de rotina podem sair direto; sensíveis sempre passam por revisão.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41755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GATE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1470355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4959584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252192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52192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Loga e fecha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5252192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5252192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Conversação fica registada no sistema. Resultado alimenta o ciclo de aprendizagem.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52192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LOG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9144000"/>
            <a:ext cx="1645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Georgia"/>
              </a:rPr>
              <a:t>Sara nunca abre o Airtable. Cada canal funciona em conversa com o Claude — uma única caixa de entrada efetiva.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973836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PROCESS FLOW · 07 · CLÍNICA DA SARA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08 / 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PROCESS FLOW ·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2D2D2D"/>
                </a:solidFill>
                <a:latin typeface="Georgia"/>
              </a:rPr>
              <a:t>Quando o Claude passa a bola à Sara.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4B5563"/>
                </a:solidFill>
                <a:latin typeface="Georgia"/>
              </a:rPr>
              <a:t>O Code classifica e escolhe o lado seguro: chatear a Sara é mais barato do que enviar a resposta errada. O Cowork mostra a fila de aprovação. Cinco categorias, cada uma com dono e SLA.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0" y="914400"/>
            <a:ext cx="3200400" cy="45720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0" y="9875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 spc="80">
                <a:solidFill>
                  <a:srgbClr val="FFFFFF"/>
                </a:solidFill>
                <a:latin typeface="Calibri"/>
              </a:rPr>
              <a:t>RUNTIME · CODE + COWORK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Queixa clínica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7899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7899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Reação adversa, complicação reportada, dúvida clínica. SLA: &lt; 4h em horário útil.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SARA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6499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2102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363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363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Reclamação ou reembolso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1363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91363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Insatisfação, pedido de devolução, dano material. SLA: same-day, manual.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SARA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19963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5566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4827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827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Pedido de preço / pacote especial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74827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4827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Cotação fora do standard, condições negociadas. SLA: &lt; 4h em horário útil.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SARA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03427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9030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8291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291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RGPD / dados pessoais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8291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58291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Pedido de acesso, eliminação, retificação. SLA: &lt; 24h. Sara + DPO se aplicável.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291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SARA+DPO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1186891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12494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41755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41755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Caso ambíguo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241755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241755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Claude não consegue classificar com confiança — sinaliza. SLA: próximo ciclo de revisão.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41755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SARA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1470355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4959584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252192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52192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Tudo o resto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5252192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5252192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Marcação · confirmação · informação simples · agradecimento — resposta automática.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52192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AUTO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9144000"/>
            <a:ext cx="1645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Georgia"/>
              </a:rPr>
              <a:t>Cada escalação fica logged. Categorias recorrentes aparecem no relatório mensal — as regras afinam ao longo do tempo.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973836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PROCESS FLOW · 08 · CLÍNICA DA SARA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09 / 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PROCESS FLOW ·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2D2D2D"/>
                </a:solidFill>
                <a:latin typeface="Georgia"/>
              </a:rPr>
              <a:t>Como o sistema melhora todas as semanas.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4B5563"/>
                </a:solidFill>
                <a:latin typeface="Georgia"/>
              </a:rPr>
              <a:t>O learning loop da Secção 5 da proposta em prática. Cowork revê a semana, gera patches, e ambos os runtimes (Code + Cowork) apanham as melhorias na próxima invocação.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0" y="914400"/>
            <a:ext cx="3200400" cy="45720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0" y="9875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 spc="80">
                <a:solidFill>
                  <a:srgbClr val="FFFFFF"/>
                </a:solidFill>
                <a:latin typeface="Calibri"/>
              </a:rPr>
              <a:t>RUNTIME · CLAUDE COWORK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Segunda-feira fires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7899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7899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Scheduled Cowork task corre. Plugin de learning + skills de análise acordam.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SCHEDULE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6499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2102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363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363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Revê a semana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1363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91363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Mensagens enviadas + respostas, sugestões aceites/recusadas, briefings úteis vs. ruído.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REVIEW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19963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5566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4827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827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Diagnostica gaps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74827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4827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Misclassificações, drift de tom, handoffs falhados, tarefas paradas.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DIAGNOSE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03427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9030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8291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291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Esboça patches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8291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58291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Prompts atualizados, regras refinadas, novas tags, modificações de views Airtable.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291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PATCH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1186891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12494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41755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41755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Sara aprova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241755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241755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Patches de baixo risco passam por automação. Risco maior fica para revisão dela.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41755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GATE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1470355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4959584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252192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52192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Deploy + loop fecha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5252192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5252192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Ephemeral software layer atualiza. Próxima semana o sistema é mensuravelmente melhor.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52192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DEPLOY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9144000"/>
            <a:ext cx="1645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Georgia"/>
              </a:rPr>
              <a:t>É por isto que o que entregamos é um sistema, não automações. O sistema compõe-se com o uso.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973836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PROCESS FLOW · 09 · CLÍNICA DA SARA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10 / 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PROCESS FLOW ·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2D2D2D"/>
                </a:solidFill>
                <a:latin typeface="Georgia"/>
              </a:rPr>
              <a:t>Como o conteúdo de redes sociais é criado e publicado.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4B5563"/>
                </a:solidFill>
                <a:latin typeface="Georgia"/>
              </a:rPr>
              <a:t>P5 em ação. Cowork pesquisa e redige; Code agenda e publica via Meta Graph + GMB API. Engagement volta para o sistema para alimentar o ciclo seguinte.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0" y="914400"/>
            <a:ext cx="3200400" cy="45720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0" y="9875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 spc="80">
                <a:solidFill>
                  <a:srgbClr val="FFFFFF"/>
                </a:solidFill>
                <a:latin typeface="Calibri"/>
              </a:rPr>
              <a:t>RUNTIME · CODE + COWORK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Disparador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7899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7899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Semanal (segunda-feira) ou pedido direto da Sara: «o que faço esta semana?»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TRIGGER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6499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2102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363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363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Cowork pesquisa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1363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91363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Tendências do setor, performance da semana anterior, calendário da clínica (eventos, tratamentos a destacar).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RESEARCH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19963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5566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4827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827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Redige posts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74827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4827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Copy + sugestão de imagem/criativo + hashtags + CTA, no tom da clínica. Variantes Instagram, Facebook, GMB.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DRAFT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03427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9030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8291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291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Sara aprova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8291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58291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Vê o calendário semanal completo em Cowork. Aprova em batch, ajusta variantes, ou rejeita.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291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GATE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1186891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12494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41755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41755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Code agenda + publica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241755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241755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Calendário publicado pelo Code daemon via Meta Graph API + GMB API. Horários otimizados por canal.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41755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PUBLISH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1470355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4959584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252192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52192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Engagement volta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5252192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5252192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Likes, comentários, mensagens DM, novos seguidores — tudo logged. Alimenta a pesquisa da semana seguinte.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52192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LEARN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9144000"/>
            <a:ext cx="1645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Georgia"/>
              </a:rPr>
              <a:t>A clínica deixa de depender da Sara escrever posts no meio das consultas — passa a ter uma operação editorial semanal.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973836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PROCESS FLOW · 10 · CLÍNICA DA SARA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11 / 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PROCESS FLOW ·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2D2D2D"/>
                </a:solidFill>
                <a:latin typeface="Georgia"/>
              </a:rPr>
              <a:t>Como os anúncios Google e Meta correm sem dashboard.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4B5563"/>
                </a:solidFill>
                <a:latin typeface="Georgia"/>
              </a:rPr>
              <a:t>P6 e P7 partilham este fluxo. Cowork aprova; Code executa, monitoriza e afina. A Sara nunca abre o Google Ads ou o Gestor de Anúncios da Meta.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0" y="914400"/>
            <a:ext cx="3200400" cy="45720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0" y="9875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 spc="80">
                <a:solidFill>
                  <a:srgbClr val="FFFFFF"/>
                </a:solidFill>
                <a:latin typeface="Calibri"/>
              </a:rPr>
              <a:t>RUNTIME · CODE + COWORK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Cowork propõe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7899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7899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Campanhas: público, copy, criativos, palavras-chave (Google) ou interesses (Meta), orçamento, calendário.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STRATEGY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6499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2102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363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363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Sara aprova em conversa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1363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91363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Lê a proposta em Cowork. Pergunta, ajusta, aprova ou recusa. Sem painel — só conversa.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GATE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19963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5566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4827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827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Code publica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74827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4827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Pushed live via Google Ads API ou Meta Marketing API. Tracking, pixel e conversões configurados.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PUBLISH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03427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9030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8291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291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Tuning diário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8291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58291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Code monitoriza bids, CTR, CPC, conversões. Realoca verba dentro do budget. Pausa underperformers automaticamente.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291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TUNE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1186891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12494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41755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41755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Alertas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241755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241755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Se gasto sobe acima do limite, CTR desce, ou houver problema técnico — Code escala à Sara em segundos.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41755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ALERT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1470355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4959584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252192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52192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Relatório semanal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5252192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5252192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Cowork compila: gasto, alcance, conversões, recomendações para a próxima semana. Lê em 2 minutos.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52192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REPORT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9144000"/>
            <a:ext cx="1645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Georgia"/>
              </a:rPr>
              <a:t>Mesmo skill stack para Google e Meta — só o canal MCP muda. Adicionar TikTok ou outro canal é configuração, não rebuild.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973836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PROCESS FLOW · 11 · CLÍNICA DA SARA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12 / 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PROCESS FLOW ·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2D2D2D"/>
                </a:solidFill>
                <a:latin typeface="Georgia"/>
              </a:rPr>
              <a:t>Como o site novo se mantém vivo sem programador.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4B5563"/>
                </a:solidFill>
                <a:latin typeface="Georgia"/>
              </a:rPr>
              <a:t>P8 em ação após o build inicial. Sara descreve a mudança em linguagem natural; Cowork redige; staging para verificação; Sara aprova; Code publica.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0" y="914400"/>
            <a:ext cx="3200400" cy="45720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0" y="9875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 spc="80">
                <a:solidFill>
                  <a:srgbClr val="FFFFFF"/>
                </a:solidFill>
                <a:latin typeface="Calibri"/>
              </a:rPr>
              <a:t>RUNTIME · CODE + COWORK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Sara descreve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7899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7899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«Adiciona uma secção sobre o novo tratamento de laser.» Ou «muda o preço do pacote X.» Conversa, não ticket.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BRIEF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6499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2102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363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363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Cowork redige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1363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91363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Gera a página ou secção — copy, layout, CTAs — na voz da clínica. Mostra preview em staging.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DRAFT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19963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5566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4827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827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Sara revê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74827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74827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Vê a mudança lado a lado com o site atual. Aprova, ajusta, ou pede variantes.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REVIEW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03427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9030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8291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291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Push para staging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8291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58291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Via website MCP. Sara vê o preview no URL de staging antes de qualquer coisa ir para o ar.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291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STAGE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1186891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124943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417551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417551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Sara aprova go-live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2417551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2417551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Uma palavra em Cowork. Sem CMS, sem version-control, sem ticket a programador.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417551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APPROVE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14703551" y="6099048"/>
            <a:ext cx="219456" cy="237744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4959584" y="3657600"/>
            <a:ext cx="254203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252192" y="3950208"/>
            <a:ext cx="20848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FF8449"/>
                </a:solidFill>
                <a:latin typeface="Georgia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52192" y="4617720"/>
            <a:ext cx="199339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Georgia"/>
              </a:rPr>
              <a:t>Publicado + logged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5252192" y="5623560"/>
            <a:ext cx="1956816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5252192" y="5760720"/>
            <a:ext cx="1993391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Publicado no site da clínica. Mudança registada com timestamp, razão, e diff. Fácil de reverter.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52192" y="827531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SHIP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9144000"/>
            <a:ext cx="1645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Georgia"/>
              </a:rPr>
              <a:t>O site fica vivo sem programador. Quando se pensa numa mudança, ela vai ao ar no mesmo dia — não em três semanas.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973836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PROCESS FLOW · 12 · CLÍNICA DA SARA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13 / 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O QUE ACABOU DE 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  <a:latin typeface="Georgia"/>
              </a:rPr>
              <a:t>Um sistema. Doze fluxos. Uma dona — a Sara.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554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D4D4D8"/>
                </a:solidFill>
                <a:latin typeface="Calibri"/>
              </a:rPr>
              <a:t>Do paciente à aquisição. Cada fluxo corre através do Code ou Cowork (ou ambos) — mesma base de dados, mesmas ferramentas, mesmo ciclo de aprovação. Adicionar fluxos não significa mais ferramentas; significa expandir o que o mesmo sistema sabe fazer.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794760"/>
            <a:ext cx="3941063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931920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F8449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3950208"/>
            <a:ext cx="28437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Georgia"/>
              </a:rPr>
              <a:t>Mensagem pré-consulta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480560"/>
            <a:ext cx="348386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Disparador → contexto → mensagem personalizada → envio.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3794760"/>
            <a:ext cx="3941063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12664" y="3931920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F8449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52744" y="3950208"/>
            <a:ext cx="28437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Georgia"/>
              </a:rPr>
              <a:t>Seguimento pós-tratamento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2664" y="4480560"/>
            <a:ext cx="348386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Sessão termina → check-in inteligente → captura complicações cedo.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53728" y="3794760"/>
            <a:ext cx="3941063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82328" y="3931920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F8449"/>
                </a:solidFill>
                <a:latin typeface="Georgi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22407" y="3950208"/>
            <a:ext cx="28437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Georgia"/>
              </a:rPr>
              <a:t>Reativação inteligente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82328" y="4480560"/>
            <a:ext cx="348386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Inativo X meses → sugestão de P2 → reativação personalizada.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423392" y="3794760"/>
            <a:ext cx="3941063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651992" y="3931920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F8449"/>
                </a:solidFill>
                <a:latin typeface="Georgia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92072" y="3950208"/>
            <a:ext cx="28437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Georgia"/>
              </a:rPr>
              <a:t>Sugestão de 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651992" y="4480560"/>
            <a:ext cx="348386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Padrões + histórico → próxima ação por paciente → aprende com a Sara.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687568"/>
            <a:ext cx="3941063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824728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F8449"/>
                </a:solidFill>
                <a:latin typeface="Georgia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5843016"/>
            <a:ext cx="28437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Georgia"/>
              </a:rPr>
              <a:t>Pacote ponta-a-ponta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6373368"/>
            <a:ext cx="348386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Consulta termina → paciente confirma no form → comprovativo → CRM atualiza.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4064" y="5687568"/>
            <a:ext cx="3941063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12664" y="5824728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F8449"/>
                </a:solidFill>
                <a:latin typeface="Georgia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52744" y="5843016"/>
            <a:ext cx="28437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Georgia"/>
              </a:rPr>
              <a:t>Briefing diário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12664" y="6373368"/>
            <a:ext cx="348386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Hora fixa → contexto compilado → entregue antes de o dia começar.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53728" y="5687568"/>
            <a:ext cx="3941063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82328" y="5824728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F8449"/>
                </a:solidFill>
                <a:latin typeface="Georgia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2407" y="5843016"/>
            <a:ext cx="28437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Georgia"/>
              </a:rPr>
              <a:t>Triagem inbound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2328" y="6373368"/>
            <a:ext cx="348386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Mensagem chega → classifica → responde ou escala → loga.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3423392" y="5687568"/>
            <a:ext cx="3941063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651992" y="5824728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F8449"/>
                </a:solidFill>
                <a:latin typeface="Georgia"/>
              </a:rP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92072" y="5843016"/>
            <a:ext cx="28437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Georgia"/>
              </a:rPr>
              <a:t>Escalação à Sara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651992" y="6373368"/>
            <a:ext cx="348386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Cinco categorias sensíveis sempre passam por revisão humana.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" y="7580376"/>
            <a:ext cx="3941063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7717536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F8449"/>
                </a:solidFill>
                <a:latin typeface="Georgia"/>
              </a:rPr>
              <a:t>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83080" y="7735824"/>
            <a:ext cx="28437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Georgia"/>
              </a:rPr>
              <a:t>Learning loop semanal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8266176"/>
            <a:ext cx="348386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Segunda-feira → revê semana → diagnostica → patches → deploy.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84064" y="7580376"/>
            <a:ext cx="3941063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12664" y="7717536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F8449"/>
                </a:solidFill>
                <a:latin typeface="Georgia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52744" y="7735824"/>
            <a:ext cx="28437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Georgia"/>
              </a:rPr>
              <a:t>Conteúdo &amp; redes sociais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12664" y="8266176"/>
            <a:ext cx="348386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Pesquisa → drafts → aprovação → publicação automática → engagement volta.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53728" y="7580376"/>
            <a:ext cx="3941063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82328" y="7717536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F8449"/>
                </a:solidFill>
                <a:latin typeface="Georgia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22407" y="7735824"/>
            <a:ext cx="28437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Georgia"/>
              </a:rPr>
              <a:t>Anúncios Google + Meta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82328" y="8266176"/>
            <a:ext cx="348386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Cowork propõe → Sara aprova → Code publica + afina diariamente → relatório semanal.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3423392" y="7580376"/>
            <a:ext cx="3941063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3651992" y="7717536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F8449"/>
                </a:solidFill>
                <a:latin typeface="Georgia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292072" y="7735824"/>
            <a:ext cx="28437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Georgia"/>
              </a:rPr>
              <a:t>Website novo + manutenção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651992" y="8266176"/>
            <a:ext cx="348386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Sara descreve → Cowork redige → staging → aprova → publicado e logged.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" y="9372600"/>
            <a:ext cx="1554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60">
                <a:solidFill>
                  <a:srgbClr val="A1A1AA"/>
                </a:solidFill>
                <a:latin typeface="Calibri"/>
              </a:rPr>
              <a:t>OBLQAI · HELLO@OBLQAI.COM · +351 966 993 506 · LISBOA, PORTUGAL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973836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A1A1AA"/>
                </a:solidFill>
                <a:latin typeface="Calibri"/>
              </a:rPr>
              <a:t>O QUE ACABOU DE VER · CLÍNICA DA SARA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A1A1AA"/>
                </a:solidFill>
                <a:latin typeface="Calibri"/>
              </a:rPr>
              <a:t>14 / 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